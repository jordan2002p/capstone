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Staatliches"/>
      <p:regular r:id="rId19"/>
    </p:embeddedFont>
    <p:embeddedFont>
      <p:font typeface="Bungee"/>
      <p:regular r:id="rId20"/>
    </p:embeddedFont>
    <p:embeddedFont>
      <p:font typeface="DM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ungee-regular.fntdata"/><Relationship Id="rId11" Type="http://schemas.openxmlformats.org/officeDocument/2006/relationships/slide" Target="slides/slide6.xml"/><Relationship Id="rId22" Type="http://schemas.openxmlformats.org/officeDocument/2006/relationships/font" Target="fonts/DMSans-bold.fntdata"/><Relationship Id="rId10" Type="http://schemas.openxmlformats.org/officeDocument/2006/relationships/slide" Target="slides/slide5.xml"/><Relationship Id="rId21" Type="http://schemas.openxmlformats.org/officeDocument/2006/relationships/font" Target="fonts/DMSans-regular.fntdata"/><Relationship Id="rId13" Type="http://schemas.openxmlformats.org/officeDocument/2006/relationships/slide" Target="slides/slide8.xml"/><Relationship Id="rId24" Type="http://schemas.openxmlformats.org/officeDocument/2006/relationships/font" Target="fonts/DMSans-boldItalic.fntdata"/><Relationship Id="rId12" Type="http://schemas.openxmlformats.org/officeDocument/2006/relationships/slide" Target="slides/slide7.xml"/><Relationship Id="rId23" Type="http://schemas.openxmlformats.org/officeDocument/2006/relationships/font" Target="fonts/DM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Staatliches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496e44e6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496e44e6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a856bc14b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a856bc14b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496e44e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496e44e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49a8bbe2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49a8bbe2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a856bc14b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a856bc14b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a856bc14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a856bc14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a2ced1c42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a2ced1c42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a2ced1c42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a2ced1c42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dc9c501e2d3c5e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dc9c501e2d3c5e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6d966575acfdb0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6d966575acfdb0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a2ced1c4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a2ced1c4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49a8bbe2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949a8bbe2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49a8bbe2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949a8bbe2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10" Type="http://schemas.openxmlformats.org/officeDocument/2006/relationships/image" Target="../media/image7.png"/><Relationship Id="rId9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jp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2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1.png"/><Relationship Id="rId6" Type="http://schemas.openxmlformats.org/officeDocument/2006/relationships/image" Target="../media/image17.png"/><Relationship Id="rId7" Type="http://schemas.openxmlformats.org/officeDocument/2006/relationships/image" Target="../media/image15.jpg"/><Relationship Id="rId8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10" Type="http://schemas.openxmlformats.org/officeDocument/2006/relationships/image" Target="../media/image7.png"/><Relationship Id="rId9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26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8568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263" y="77640"/>
            <a:ext cx="8677463" cy="4838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 b="28874" l="0" r="0" t="25220"/>
          <a:stretch/>
        </p:blipFill>
        <p:spPr>
          <a:xfrm>
            <a:off x="2975050" y="2722159"/>
            <a:ext cx="3319350" cy="1523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5500" y="729903"/>
            <a:ext cx="992950" cy="99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6">
            <a:alphaModFix/>
          </a:blip>
          <a:srcRect b="0" l="0" r="64651" t="0"/>
          <a:stretch/>
        </p:blipFill>
        <p:spPr>
          <a:xfrm>
            <a:off x="7619881" y="-186550"/>
            <a:ext cx="1656495" cy="3058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7">
            <a:alphaModFix/>
          </a:blip>
          <a:srcRect b="20369" l="53257" r="0" t="0"/>
          <a:stretch/>
        </p:blipFill>
        <p:spPr>
          <a:xfrm>
            <a:off x="-147625" y="3148175"/>
            <a:ext cx="1978700" cy="2198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21325" y="0"/>
            <a:ext cx="387650" cy="74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90750" y="3370137"/>
            <a:ext cx="1179575" cy="134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691875" y="1120039"/>
            <a:ext cx="1808599" cy="4451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818050" y="1621050"/>
            <a:ext cx="74190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100">
                <a:latin typeface="Bungee"/>
                <a:ea typeface="Bungee"/>
                <a:cs typeface="Bungee"/>
                <a:sym typeface="Bungee"/>
              </a:rPr>
              <a:t>PROYECTO </a:t>
            </a:r>
            <a:r>
              <a:rPr lang="es" sz="3100">
                <a:latin typeface="Bungee"/>
                <a:ea typeface="Bungee"/>
                <a:cs typeface="Bungee"/>
                <a:sym typeface="Bungee"/>
              </a:rPr>
              <a:t>“</a:t>
            </a:r>
            <a:r>
              <a:rPr lang="es" sz="3100">
                <a:latin typeface="Bungee"/>
                <a:ea typeface="Bungee"/>
                <a:cs typeface="Bungee"/>
                <a:sym typeface="Bungee"/>
              </a:rPr>
              <a:t>OvalleStock”</a:t>
            </a:r>
            <a:endParaRPr sz="3100">
              <a:latin typeface="Bungee"/>
              <a:ea typeface="Bungee"/>
              <a:cs typeface="Bungee"/>
              <a:sym typeface="Bunge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" sz="3100">
                <a:latin typeface="Bungee"/>
                <a:ea typeface="Bungee"/>
                <a:cs typeface="Bungee"/>
                <a:sym typeface="Bungee"/>
              </a:rPr>
              <a:t>PRESENTACIÓN FINAL CAPSTONE</a:t>
            </a:r>
            <a:endParaRPr sz="2500">
              <a:solidFill>
                <a:schemeClr val="dk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ungee"/>
              <a:ea typeface="Bungee"/>
              <a:cs typeface="Bungee"/>
              <a:sym typeface="Bunge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8568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263" y="77640"/>
            <a:ext cx="8677463" cy="483870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368025" y="399450"/>
            <a:ext cx="74190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Bungee"/>
                <a:ea typeface="Bungee"/>
                <a:cs typeface="Bungee"/>
                <a:sym typeface="Bungee"/>
              </a:rPr>
              <a:t>integrantes del proyecto</a:t>
            </a:r>
            <a:endParaRPr sz="3000">
              <a:solidFill>
                <a:srgbClr val="000000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 rotWithShape="1">
          <a:blip r:embed="rId4">
            <a:alphaModFix/>
          </a:blip>
          <a:srcRect b="28874" l="6742" r="6931" t="25220"/>
          <a:stretch/>
        </p:blipFill>
        <p:spPr>
          <a:xfrm>
            <a:off x="434800" y="1943725"/>
            <a:ext cx="2384449" cy="127045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2942725" y="3041275"/>
            <a:ext cx="13836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725" lIns="83725" spcFirstLastPara="1" rIns="83725" wrap="square" tIns="83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98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Martín Jeraldino</a:t>
            </a:r>
            <a:endParaRPr sz="1098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4284067" y="1112942"/>
            <a:ext cx="4084200" cy="807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725" lIns="83725" spcFirstLastPara="1" rIns="83725" wrap="square" tIns="83725">
            <a:noAutofit/>
          </a:bodyPr>
          <a:lstStyle/>
          <a:p>
            <a:pPr indent="-273323" lvl="0" marL="418708" rtl="0" algn="l">
              <a:lnSpc>
                <a:spcPct val="90000"/>
              </a:lnSpc>
              <a:spcBef>
                <a:spcPts val="261"/>
              </a:spcBef>
              <a:spcAft>
                <a:spcPts val="0"/>
              </a:spcAft>
              <a:buClr>
                <a:schemeClr val="dk1"/>
              </a:buClr>
              <a:buSzPts val="1007"/>
              <a:buFont typeface="DM Sans"/>
              <a:buChar char="●"/>
            </a:pPr>
            <a:r>
              <a:rPr lang="es" sz="1007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Desarrollo principal del sistema </a:t>
            </a:r>
            <a:endParaRPr sz="1007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73323" lvl="0" marL="41870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7"/>
              <a:buFont typeface="DM Sans"/>
              <a:buChar char="●"/>
            </a:pPr>
            <a:r>
              <a:rPr lang="es" sz="1007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Integración de módulos y lógica interna </a:t>
            </a:r>
            <a:endParaRPr sz="1007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73323" lvl="0" marL="41870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7"/>
              <a:buFont typeface="DM Sans"/>
              <a:buChar char="●"/>
            </a:pPr>
            <a:r>
              <a:rPr lang="es" sz="1007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Apoyos en pruebas y documentación</a:t>
            </a:r>
            <a:endParaRPr sz="1282"/>
          </a:p>
        </p:txBody>
      </p:sp>
      <p:sp>
        <p:nvSpPr>
          <p:cNvPr id="72" name="Google Shape;72;p14"/>
          <p:cNvSpPr txBox="1"/>
          <p:nvPr/>
        </p:nvSpPr>
        <p:spPr>
          <a:xfrm>
            <a:off x="2977358" y="4318200"/>
            <a:ext cx="13836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725" lIns="83725" spcFirstLastPara="1" rIns="83725" wrap="square" tIns="83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98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Renato Tapia</a:t>
            </a:r>
            <a:endParaRPr sz="1098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2942725" y="1898613"/>
            <a:ext cx="13836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725" lIns="83725" spcFirstLastPara="1" rIns="83725" wrap="square" tIns="83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98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Jordan Peña</a:t>
            </a:r>
            <a:endParaRPr sz="1098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3244321" y="3540613"/>
            <a:ext cx="849300" cy="7944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725" lIns="83725" spcFirstLastPara="1" rIns="83725" wrap="square" tIns="83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2"/>
          </a:p>
        </p:txBody>
      </p:sp>
      <p:pic>
        <p:nvPicPr>
          <p:cNvPr id="75" name="Google Shape;75;p14" title="13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4299" y="1132393"/>
            <a:ext cx="849350" cy="768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6" name="Google Shape;76;p14"/>
          <p:cNvSpPr/>
          <p:nvPr/>
        </p:nvSpPr>
        <p:spPr>
          <a:xfrm>
            <a:off x="4284067" y="3539892"/>
            <a:ext cx="4084200" cy="807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725" lIns="83725" spcFirstLastPara="1" rIns="83725" wrap="square" tIns="83725">
            <a:noAutofit/>
          </a:bodyPr>
          <a:lstStyle/>
          <a:p>
            <a:pPr indent="-273323" lvl="0" marL="41870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7"/>
              <a:buFont typeface="DM Sans"/>
              <a:buChar char="●"/>
            </a:pPr>
            <a:r>
              <a:rPr lang="es" sz="1007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Desarrollo de componentes y ajustes </a:t>
            </a:r>
            <a:endParaRPr sz="1007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73323" lvl="0" marL="41870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7"/>
              <a:buFont typeface="DM Sans"/>
              <a:buChar char="●"/>
            </a:pPr>
            <a:r>
              <a:rPr lang="es" sz="1007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Validación de funcionalidades, pruebas de calidad </a:t>
            </a:r>
            <a:endParaRPr sz="1007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73323" lvl="0" marL="41870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7"/>
              <a:buFont typeface="DM Sans"/>
              <a:buChar char="●"/>
            </a:pPr>
            <a:r>
              <a:rPr lang="es" sz="1007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Revisión de modelos y aseguramiento de consistencia</a:t>
            </a:r>
            <a:endParaRPr sz="1007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7" name="Google Shape;7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54988" y="399458"/>
            <a:ext cx="957102" cy="23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/>
          <p:cNvPicPr preferRelativeResize="0"/>
          <p:nvPr/>
        </p:nvPicPr>
        <p:blipFill rotWithShape="1">
          <a:blip r:embed="rId7">
            <a:alphaModFix/>
          </a:blip>
          <a:srcRect b="0" l="0" r="0" t="6305"/>
          <a:stretch/>
        </p:blipFill>
        <p:spPr>
          <a:xfrm>
            <a:off x="3244325" y="3546500"/>
            <a:ext cx="849300" cy="7944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9" name="Google Shape;79;p14"/>
          <p:cNvSpPr/>
          <p:nvPr/>
        </p:nvSpPr>
        <p:spPr>
          <a:xfrm>
            <a:off x="4284067" y="2278117"/>
            <a:ext cx="4084200" cy="807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725" lIns="83725" spcFirstLastPara="1" rIns="83725" wrap="square" tIns="83725">
            <a:noAutofit/>
          </a:bodyPr>
          <a:lstStyle/>
          <a:p>
            <a:pPr indent="-273323" lvl="0" marL="41870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7"/>
              <a:buFont typeface="DM Sans"/>
              <a:buChar char="●"/>
            </a:pPr>
            <a:r>
              <a:rPr lang="es" sz="1007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Desarrollo de funcionalidades específicas </a:t>
            </a:r>
            <a:endParaRPr sz="1007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73323" lvl="0" marL="41870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7"/>
              <a:buFont typeface="DM Sans"/>
              <a:buChar char="●"/>
            </a:pPr>
            <a:r>
              <a:rPr lang="es" sz="1007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Implementación de interfaces y mejoras visuales </a:t>
            </a:r>
            <a:endParaRPr sz="1007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73323" lvl="0" marL="41870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7"/>
              <a:buFont typeface="DM Sans"/>
              <a:buChar char="●"/>
            </a:pPr>
            <a:r>
              <a:rPr lang="es" sz="1007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Colaboración en pruebas funcionales</a:t>
            </a:r>
            <a:endParaRPr sz="1007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44475" y="2230087"/>
            <a:ext cx="849352" cy="855638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8568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263" y="77640"/>
            <a:ext cx="8677463" cy="483870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/>
          <p:nvPr/>
        </p:nvSpPr>
        <p:spPr>
          <a:xfrm>
            <a:off x="839188" y="1424953"/>
            <a:ext cx="3016200" cy="2838600"/>
          </a:xfrm>
          <a:prstGeom prst="roundRect">
            <a:avLst>
              <a:gd fmla="val 10901" name="adj"/>
            </a:avLst>
          </a:prstGeom>
          <a:solidFill>
            <a:srgbClr val="FFFFFF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31700" lIns="63425" spcFirstLastPara="1" rIns="63425" wrap="square" tIns="31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42" u="sng">
                <a:latin typeface="DM Sans"/>
                <a:ea typeface="DM Sans"/>
                <a:cs typeface="DM Sans"/>
                <a:sym typeface="DM Sans"/>
              </a:rPr>
              <a:t>Problemática</a:t>
            </a:r>
            <a:endParaRPr sz="97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8" u="sng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348">
                <a:latin typeface="DM Sans"/>
                <a:ea typeface="DM Sans"/>
                <a:cs typeface="DM Sans"/>
                <a:sym typeface="DM Sans"/>
              </a:rPr>
              <a:t>En Lo Valledor muchos trabajadores controlan su inventario manualmente.</a:t>
            </a:r>
            <a:endParaRPr sz="1348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8">
              <a:latin typeface="DM Sans"/>
              <a:ea typeface="DM Sans"/>
              <a:cs typeface="DM Sans"/>
              <a:sym typeface="DM Sans"/>
            </a:endParaRPr>
          </a:p>
          <a:p>
            <a:pPr indent="-314228" lvl="0" marL="457200" marR="0" rtl="0" algn="just">
              <a:spcBef>
                <a:spcPts val="0"/>
              </a:spcBef>
              <a:spcAft>
                <a:spcPts val="0"/>
              </a:spcAft>
              <a:buSzPts val="1348"/>
              <a:buFont typeface="DM Sans"/>
              <a:buChar char="●"/>
            </a:pPr>
            <a:r>
              <a:rPr lang="es" sz="1348">
                <a:latin typeface="DM Sans"/>
                <a:ea typeface="DM Sans"/>
                <a:cs typeface="DM Sans"/>
                <a:sym typeface="DM Sans"/>
              </a:rPr>
              <a:t>Pérdida de información</a:t>
            </a:r>
            <a:endParaRPr sz="1348">
              <a:latin typeface="DM Sans"/>
              <a:ea typeface="DM Sans"/>
              <a:cs typeface="DM Sans"/>
              <a:sym typeface="DM Sans"/>
            </a:endParaRPr>
          </a:p>
          <a:p>
            <a:pPr indent="-314228" lvl="0" marL="457200" marR="0" rtl="0" algn="just">
              <a:spcBef>
                <a:spcPts val="0"/>
              </a:spcBef>
              <a:spcAft>
                <a:spcPts val="0"/>
              </a:spcAft>
              <a:buSzPts val="1348"/>
              <a:buFont typeface="DM Sans"/>
              <a:buChar char="●"/>
            </a:pPr>
            <a:r>
              <a:rPr lang="es" sz="1348">
                <a:latin typeface="DM Sans"/>
                <a:ea typeface="DM Sans"/>
                <a:cs typeface="DM Sans"/>
                <a:sym typeface="DM Sans"/>
              </a:rPr>
              <a:t>Errores Humanos</a:t>
            </a:r>
            <a:endParaRPr sz="1348">
              <a:latin typeface="DM Sans"/>
              <a:ea typeface="DM Sans"/>
              <a:cs typeface="DM Sans"/>
              <a:sym typeface="DM Sans"/>
            </a:endParaRPr>
          </a:p>
          <a:p>
            <a:pPr indent="-314228" lvl="0" marL="457200" marR="0" rtl="0" algn="just">
              <a:spcBef>
                <a:spcPts val="0"/>
              </a:spcBef>
              <a:spcAft>
                <a:spcPts val="0"/>
              </a:spcAft>
              <a:buSzPts val="1348"/>
              <a:buFont typeface="DM Sans"/>
              <a:buChar char="●"/>
            </a:pPr>
            <a:r>
              <a:rPr lang="es" sz="1348">
                <a:latin typeface="DM Sans"/>
                <a:ea typeface="DM Sans"/>
                <a:cs typeface="DM Sans"/>
                <a:sym typeface="DM Sans"/>
              </a:rPr>
              <a:t>Falencias en la información de stock disponible.</a:t>
            </a:r>
            <a:endParaRPr sz="1348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8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4251741" y="2278355"/>
            <a:ext cx="640500" cy="586800"/>
          </a:xfrm>
          <a:prstGeom prst="chevron">
            <a:avLst>
              <a:gd fmla="val 50000" name="adj"/>
            </a:avLst>
          </a:prstGeom>
          <a:solidFill>
            <a:srgbClr val="278568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368025" y="399450"/>
            <a:ext cx="74190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Bungee"/>
                <a:ea typeface="Bungee"/>
                <a:cs typeface="Bungee"/>
                <a:sym typeface="Bungee"/>
              </a:rPr>
              <a:t>DESCRIPCIÓN DEL PROYECTO</a:t>
            </a:r>
            <a:endParaRPr sz="3000">
              <a:solidFill>
                <a:srgbClr val="000000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pic>
        <p:nvPicPr>
          <p:cNvPr id="89" name="Google Shape;8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4988" y="399458"/>
            <a:ext cx="957102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/>
          <p:nvPr/>
        </p:nvSpPr>
        <p:spPr>
          <a:xfrm>
            <a:off x="5216063" y="1424953"/>
            <a:ext cx="3016200" cy="2838600"/>
          </a:xfrm>
          <a:prstGeom prst="roundRect">
            <a:avLst>
              <a:gd fmla="val 10901" name="adj"/>
            </a:avLst>
          </a:prstGeom>
          <a:solidFill>
            <a:srgbClr val="FFFFFF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31700" lIns="63425" spcFirstLastPara="1" rIns="63425" wrap="square" tIns="3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42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Propuesta de solución</a:t>
            </a:r>
            <a:endParaRPr sz="97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8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348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Plataforma web responsiva funcional e intuitiva para los locatarios y sus negocios.</a:t>
            </a:r>
            <a:endParaRPr sz="1348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8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228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48"/>
              <a:buFont typeface="DM Sans"/>
              <a:buChar char="●"/>
            </a:pPr>
            <a:r>
              <a:rPr lang="es" sz="1348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Control administrativo.</a:t>
            </a:r>
            <a:endParaRPr sz="1348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228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48"/>
              <a:buFont typeface="DM Sans"/>
              <a:buChar char="●"/>
            </a:pPr>
            <a:r>
              <a:rPr lang="es" sz="1348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Registro de movimientos.</a:t>
            </a:r>
            <a:endParaRPr sz="1348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228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48"/>
              <a:buFont typeface="DM Sans"/>
              <a:buChar char="●"/>
            </a:pPr>
            <a:r>
              <a:rPr lang="es" sz="1348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Registro de stock optimizado.</a:t>
            </a:r>
            <a:endParaRPr sz="1348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228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48"/>
              <a:buFont typeface="DM Sans"/>
              <a:buChar char="●"/>
            </a:pPr>
            <a:r>
              <a:rPr lang="es" sz="1348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Reportes internos.</a:t>
            </a:r>
            <a:endParaRPr sz="1348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228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48"/>
              <a:buFont typeface="DM Sans"/>
              <a:buChar char="●"/>
            </a:pPr>
            <a:r>
              <a:rPr lang="es" sz="1348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Dashboard informativo.</a:t>
            </a:r>
            <a:endParaRPr sz="1942" u="sng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8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8568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263" y="77640"/>
            <a:ext cx="8677463" cy="483870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368025" y="399450"/>
            <a:ext cx="5803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Objetivo general</a:t>
            </a:r>
            <a:endParaRPr sz="30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475750" y="1113075"/>
            <a:ext cx="7903800" cy="11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Diseñar e implementar una plataforma web que permita controlar de manera más eficiente el inventario de frutas y verduras en los locales de Lo Valledor, mejorando la gestión y el seguimiento de los productos.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8" name="Google Shape;9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350" y="2309775"/>
            <a:ext cx="1800700" cy="180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54988" y="399458"/>
            <a:ext cx="957102" cy="23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6" title="ícono PNG con varias.png"/>
          <p:cNvPicPr preferRelativeResize="0"/>
          <p:nvPr/>
        </p:nvPicPr>
        <p:blipFill rotWithShape="1">
          <a:blip r:embed="rId6">
            <a:alphaModFix/>
          </a:blip>
          <a:srcRect b="20158" l="3642" r="0" t="21563"/>
          <a:stretch/>
        </p:blipFill>
        <p:spPr>
          <a:xfrm>
            <a:off x="6055200" y="2276213"/>
            <a:ext cx="2156749" cy="1956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6"/>
          <p:cNvPicPr preferRelativeResize="0"/>
          <p:nvPr/>
        </p:nvPicPr>
        <p:blipFill rotWithShape="1">
          <a:blip r:embed="rId7">
            <a:alphaModFix/>
          </a:blip>
          <a:srcRect b="12899" l="7085" r="8362" t="15353"/>
          <a:stretch/>
        </p:blipFill>
        <p:spPr>
          <a:xfrm>
            <a:off x="3349275" y="2377201"/>
            <a:ext cx="2156749" cy="1830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8568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263" y="77640"/>
            <a:ext cx="8677463" cy="483870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/>
        </p:nvSpPr>
        <p:spPr>
          <a:xfrm>
            <a:off x="368025" y="399450"/>
            <a:ext cx="5803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Objetivos ESPECÍFICOs</a:t>
            </a:r>
            <a:endParaRPr sz="30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451575" y="1108975"/>
            <a:ext cx="16665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Administrador</a:t>
            </a:r>
            <a:endParaRPr sz="12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429825" y="1507825"/>
            <a:ext cx="1710000" cy="2970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1498225" y="1565575"/>
            <a:ext cx="1573200" cy="26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26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</a:pPr>
            <a:r>
              <a:rPr lang="e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 usuario trabajador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26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</a:pPr>
            <a:r>
              <a:rPr lang="e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 locales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26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</a:pPr>
            <a:r>
              <a:rPr lang="e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Inventario locales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26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</a:pPr>
            <a:r>
              <a:rPr lang="e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Dashboard locales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26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</a:pPr>
            <a:r>
              <a:rPr lang="e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Usuario locales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26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</a:pPr>
            <a:r>
              <a:rPr lang="e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Locales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26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</a:pPr>
            <a:r>
              <a:rPr lang="e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Movimientos locales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26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</a:pPr>
            <a:r>
              <a:rPr lang="e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Perfil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3293388" y="1108975"/>
            <a:ext cx="25572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Encargado Local</a:t>
            </a:r>
            <a:endParaRPr sz="12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3717000" y="1507825"/>
            <a:ext cx="1710000" cy="2970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 txBox="1"/>
          <p:nvPr/>
        </p:nvSpPr>
        <p:spPr>
          <a:xfrm>
            <a:off x="3785400" y="1565575"/>
            <a:ext cx="1573200" cy="24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26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</a:pPr>
            <a:r>
              <a:rPr lang="e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 usuario trabajador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26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</a:pPr>
            <a:r>
              <a:rPr lang="e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Dashboard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26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</a:pPr>
            <a:r>
              <a:rPr lang="e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Usuarios local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26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</a:pPr>
            <a:r>
              <a:rPr lang="e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Inventario (Productos)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26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</a:pPr>
            <a:r>
              <a:rPr lang="e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Movimientos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26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</a:pPr>
            <a:r>
              <a:rPr lang="e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Reportes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26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</a:pPr>
            <a:r>
              <a:rPr lang="e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Perfil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5792250" y="1108210"/>
            <a:ext cx="21741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Trabajador local</a:t>
            </a:r>
            <a:endParaRPr sz="12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6024300" y="1565575"/>
            <a:ext cx="1710000" cy="1327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 txBox="1"/>
          <p:nvPr/>
        </p:nvSpPr>
        <p:spPr>
          <a:xfrm>
            <a:off x="6072575" y="1636675"/>
            <a:ext cx="15732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26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</a:pPr>
            <a:r>
              <a:rPr lang="e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Inventario (Productos) 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26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</a:pPr>
            <a:r>
              <a:rPr lang="e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Reportes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26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</a:pPr>
            <a:r>
              <a:rPr lang="e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Perfil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17" name="Google Shape;11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4988" y="399458"/>
            <a:ext cx="957102" cy="23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8568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275" y="95380"/>
            <a:ext cx="8677448" cy="483869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8"/>
          <p:cNvSpPr txBox="1"/>
          <p:nvPr/>
        </p:nvSpPr>
        <p:spPr>
          <a:xfrm>
            <a:off x="368025" y="399450"/>
            <a:ext cx="5803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Alcance y limitaciones</a:t>
            </a:r>
            <a:endParaRPr sz="30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664225" y="2028675"/>
            <a:ext cx="1710000" cy="232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2728600" y="2028675"/>
            <a:ext cx="1710000" cy="232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4718925" y="2028675"/>
            <a:ext cx="1710000" cy="232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6709250" y="2028675"/>
            <a:ext cx="1710000" cy="232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1044575" y="1223238"/>
            <a:ext cx="885300" cy="891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810775" y="2115150"/>
            <a:ext cx="1416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Bungee"/>
                <a:ea typeface="Bungee"/>
                <a:cs typeface="Bungee"/>
                <a:sym typeface="Bungee"/>
              </a:rPr>
              <a:t>Lectura de código limitada a QR</a:t>
            </a:r>
            <a:endParaRPr sz="1200">
              <a:solidFill>
                <a:srgbClr val="000000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2838125" y="2115150"/>
            <a:ext cx="1416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Bungee"/>
                <a:ea typeface="Bungee"/>
                <a:cs typeface="Bungee"/>
                <a:sym typeface="Bungee"/>
              </a:rPr>
              <a:t>Cambio herramienta modelo 4+1</a:t>
            </a:r>
            <a:endParaRPr sz="1200">
              <a:solidFill>
                <a:srgbClr val="000000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4865475" y="2115150"/>
            <a:ext cx="1416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Bungee"/>
                <a:ea typeface="Bungee"/>
                <a:cs typeface="Bungee"/>
                <a:sym typeface="Bungee"/>
              </a:rPr>
              <a:t>Registro de hora chilena</a:t>
            </a:r>
            <a:endParaRPr sz="1200">
              <a:solidFill>
                <a:srgbClr val="000000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6855800" y="2115150"/>
            <a:ext cx="1416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Bungee"/>
                <a:ea typeface="Bungee"/>
                <a:cs typeface="Bungee"/>
                <a:sym typeface="Bungee"/>
              </a:rPr>
              <a:t>No hosting</a:t>
            </a:r>
            <a:endParaRPr sz="1200">
              <a:solidFill>
                <a:srgbClr val="000000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732625" y="3038050"/>
            <a:ext cx="15732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DM Sans"/>
                <a:ea typeface="DM Sans"/>
                <a:cs typeface="DM Sans"/>
                <a:sym typeface="DM Sans"/>
              </a:rPr>
              <a:t>Solo se implementó QR por limitaciones técnicas, pero no afectó el flujo porque la mayoría de productos ya lo usan.</a:t>
            </a:r>
            <a:endParaRPr sz="11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3236904" y="1382465"/>
            <a:ext cx="673200" cy="646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2776338" y="2833673"/>
            <a:ext cx="15732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DM Sans"/>
                <a:ea typeface="DM Sans"/>
                <a:cs typeface="DM Sans"/>
                <a:sym typeface="DM Sans"/>
              </a:rPr>
              <a:t>StarUML no funcionó por licencias; se reemplazó por draw.io sin afectar los diagramas.</a:t>
            </a:r>
            <a:endParaRPr sz="11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4787313" y="2810958"/>
            <a:ext cx="15732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DM Sans"/>
                <a:ea typeface="DM Sans"/>
                <a:cs typeface="DM Sans"/>
                <a:sym typeface="DM Sans"/>
              </a:rPr>
              <a:t>No se logró sincronizar la zona horaria, por lo que solo se guarda la fecha.</a:t>
            </a:r>
            <a:endParaRPr sz="11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6798288" y="2727974"/>
            <a:ext cx="15732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DM Sans"/>
                <a:ea typeface="DM Sans"/>
                <a:cs typeface="DM Sans"/>
                <a:sym typeface="DM Sans"/>
              </a:rPr>
              <a:t>Se descartó hosting gratuito por riesgos de seguridad; el sistema quedó solo en entorno local.</a:t>
            </a:r>
            <a:r>
              <a:rPr lang="es" sz="1100">
                <a:latin typeface="DM Sans"/>
                <a:ea typeface="DM Sans"/>
                <a:cs typeface="DM Sans"/>
                <a:sym typeface="DM Sans"/>
              </a:rPr>
              <a:t>.</a:t>
            </a:r>
            <a:endParaRPr sz="11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3120420" y="1223238"/>
            <a:ext cx="885300" cy="891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7142241" y="1223238"/>
            <a:ext cx="885300" cy="891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5131266" y="1223238"/>
            <a:ext cx="885300" cy="891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4988" y="399458"/>
            <a:ext cx="957102" cy="23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 title="A black and white ic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42125" y="1263850"/>
            <a:ext cx="885299" cy="810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 title="A five-pointed star 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23425" y="1286550"/>
            <a:ext cx="885299" cy="810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 title="e8d07dca4cbed787f0906cc8b5d12d44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79930" y="1275204"/>
            <a:ext cx="810700" cy="81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 title="ícono PNG de un códi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07275" y="1192050"/>
            <a:ext cx="957100" cy="95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8568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263" y="95365"/>
            <a:ext cx="8677463" cy="483870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>
            <a:off x="368025" y="399450"/>
            <a:ext cx="5803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metodología ágil</a:t>
            </a:r>
            <a:endParaRPr sz="30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475750" y="1113075"/>
            <a:ext cx="7903800" cy="12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 utilizó la metodología Scrum, estructurando el trabajo en sprints iterativos para mayor adaptabilidad. La gestión se centró en Jira, usando épicas e historias de usuario para priorizar tareas y asegurar la trazabilidad del avance. La colaboración y la comunicación constante fueron fundamentales.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3" name="Google Shape;153;p19"/>
          <p:cNvPicPr preferRelativeResize="0"/>
          <p:nvPr/>
        </p:nvPicPr>
        <p:blipFill rotWithShape="1">
          <a:blip r:embed="rId4">
            <a:alphaModFix/>
          </a:blip>
          <a:srcRect b="8408" l="0" r="0" t="0"/>
          <a:stretch/>
        </p:blipFill>
        <p:spPr>
          <a:xfrm>
            <a:off x="2401475" y="2464050"/>
            <a:ext cx="4052375" cy="208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54988" y="399458"/>
            <a:ext cx="957102" cy="23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8568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263" y="95365"/>
            <a:ext cx="8677463" cy="483870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 txBox="1"/>
          <p:nvPr/>
        </p:nvSpPr>
        <p:spPr>
          <a:xfrm>
            <a:off x="368025" y="399450"/>
            <a:ext cx="5803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cronograma</a:t>
            </a:r>
            <a:endParaRPr sz="30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475750" y="1113075"/>
            <a:ext cx="7903800" cy="12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62" name="Google Shape;16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4988" y="399458"/>
            <a:ext cx="957102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464400" y="1518400"/>
            <a:ext cx="3627300" cy="2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cronograma del proyecto se desarrolló en tres fases: primero se realizaron los análisis y el diseño; luego se avanzó con la programación e integración de funciones clave; y finalmente se efectuaron pruebas y documentación para asegurar el funcionamiento completo del sistema.</a:t>
            </a:r>
            <a:r>
              <a:rPr lang="es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64" name="Google Shape;16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4400" y="887275"/>
            <a:ext cx="4410075" cy="38688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8568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263" y="95365"/>
            <a:ext cx="8677463" cy="483870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1"/>
          <p:cNvSpPr txBox="1"/>
          <p:nvPr/>
        </p:nvSpPr>
        <p:spPr>
          <a:xfrm>
            <a:off x="464400" y="1518400"/>
            <a:ext cx="3627300" cy="2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diagrama muestra la distribución física del sistema, desde los dispositivos del usuario hasta el servidor web y la base de datos. Incluye módulos como autenticación, inventario, reportes y escaneo por QR, permitiendo registrar productos directamente.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1" name="Google Shape;17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4750" y="887275"/>
            <a:ext cx="4189725" cy="386887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72" name="Google Shape;17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54988" y="399458"/>
            <a:ext cx="957102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1"/>
          <p:cNvSpPr txBox="1"/>
          <p:nvPr/>
        </p:nvSpPr>
        <p:spPr>
          <a:xfrm>
            <a:off x="368025" y="399450"/>
            <a:ext cx="5803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ARQUITECTURA</a:t>
            </a:r>
            <a:r>
              <a:rPr lang="es" sz="30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 </a:t>
            </a:r>
            <a:endParaRPr sz="30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8568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263" y="95365"/>
            <a:ext cx="8677463" cy="483870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2"/>
          <p:cNvSpPr txBox="1"/>
          <p:nvPr/>
        </p:nvSpPr>
        <p:spPr>
          <a:xfrm>
            <a:off x="368025" y="399450"/>
            <a:ext cx="5803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Modelo base datos</a:t>
            </a:r>
            <a:r>
              <a:rPr lang="es" sz="30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 </a:t>
            </a:r>
            <a:endParaRPr sz="30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pic>
        <p:nvPicPr>
          <p:cNvPr id="180" name="Google Shape;18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4988" y="399458"/>
            <a:ext cx="957102" cy="23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9650" y="1045650"/>
            <a:ext cx="4064825" cy="3716824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182" name="Google Shape;182;p22"/>
          <p:cNvSpPr txBox="1"/>
          <p:nvPr/>
        </p:nvSpPr>
        <p:spPr>
          <a:xfrm>
            <a:off x="464400" y="1518400"/>
            <a:ext cx="3627300" cy="2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modelo físico muestra el diseño de la base de datos en MySQL, definiendo tablas, tipos de datos y restricciones. Esto asegura un registro y consulta eficiente y consistente del inventario, permitiendo la trazabilidad de productos y movimientos, y siendo la base de los reportes y la escalabilidad de OvalleStock.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7663400" y="3209150"/>
            <a:ext cx="859800" cy="104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8568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263" y="77640"/>
            <a:ext cx="8677463" cy="4838703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3"/>
          <p:cNvSpPr txBox="1"/>
          <p:nvPr/>
        </p:nvSpPr>
        <p:spPr>
          <a:xfrm>
            <a:off x="368025" y="399450"/>
            <a:ext cx="74190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herramientas utilizadas</a:t>
            </a:r>
            <a:endParaRPr sz="30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664225" y="2028675"/>
            <a:ext cx="1710000" cy="232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3"/>
          <p:cNvSpPr/>
          <p:nvPr/>
        </p:nvSpPr>
        <p:spPr>
          <a:xfrm>
            <a:off x="2728600" y="2028675"/>
            <a:ext cx="1710000" cy="232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3"/>
          <p:cNvSpPr/>
          <p:nvPr/>
        </p:nvSpPr>
        <p:spPr>
          <a:xfrm>
            <a:off x="4718925" y="2028675"/>
            <a:ext cx="1710000" cy="232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3"/>
          <p:cNvSpPr/>
          <p:nvPr/>
        </p:nvSpPr>
        <p:spPr>
          <a:xfrm>
            <a:off x="6709250" y="2028675"/>
            <a:ext cx="1710000" cy="232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3"/>
          <p:cNvSpPr/>
          <p:nvPr/>
        </p:nvSpPr>
        <p:spPr>
          <a:xfrm>
            <a:off x="1182625" y="1345700"/>
            <a:ext cx="673200" cy="6831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3"/>
          <p:cNvSpPr/>
          <p:nvPr/>
        </p:nvSpPr>
        <p:spPr>
          <a:xfrm>
            <a:off x="5237325" y="1382475"/>
            <a:ext cx="673200" cy="646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3"/>
          <p:cNvSpPr/>
          <p:nvPr/>
        </p:nvSpPr>
        <p:spPr>
          <a:xfrm>
            <a:off x="7227650" y="1382475"/>
            <a:ext cx="673200" cy="646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7650" y="1369010"/>
            <a:ext cx="673198" cy="646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8" name="Google Shape;198;p23"/>
          <p:cNvPicPr preferRelativeResize="0"/>
          <p:nvPr/>
        </p:nvPicPr>
        <p:blipFill rotWithShape="1">
          <a:blip r:embed="rId5">
            <a:alphaModFix/>
          </a:blip>
          <a:srcRect b="11944" l="11211" r="11040" t="11438"/>
          <a:stretch/>
        </p:blipFill>
        <p:spPr>
          <a:xfrm>
            <a:off x="5237325" y="1373904"/>
            <a:ext cx="673200" cy="646199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9" name="Google Shape;199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46700" y="1433050"/>
            <a:ext cx="545049" cy="54504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3"/>
          <p:cNvSpPr txBox="1"/>
          <p:nvPr/>
        </p:nvSpPr>
        <p:spPr>
          <a:xfrm>
            <a:off x="810775" y="2115150"/>
            <a:ext cx="1416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Visual sTUDIO CODE</a:t>
            </a:r>
            <a:endParaRPr sz="12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201" name="Google Shape;201;p23"/>
          <p:cNvSpPr txBox="1"/>
          <p:nvPr/>
        </p:nvSpPr>
        <p:spPr>
          <a:xfrm>
            <a:off x="2838125" y="2115150"/>
            <a:ext cx="1416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Mysql</a:t>
            </a:r>
            <a:endParaRPr sz="12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4865475" y="2115150"/>
            <a:ext cx="1416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GITHUB</a:t>
            </a:r>
            <a:endParaRPr sz="12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6855800" y="2115150"/>
            <a:ext cx="1416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DRAW.IO</a:t>
            </a:r>
            <a:endParaRPr sz="12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732625" y="2571750"/>
            <a:ext cx="1573200" cy="1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Entorno de desarrollo principal para Python/Django y tecnologías web (HTML/CSS/JS). Facilitó la organización modular del código.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2797000" y="2571750"/>
            <a:ext cx="1573200" cy="1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Base de datos relacional liviana y de fácil integración con Django. Ideal para entornos de desarrollo y pruebas por su estructura basada en archivos.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4787325" y="2571750"/>
            <a:ext cx="1573200" cy="1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Plataforma para el control de versiones y la colaboración. Permitió la gestión segura del código y mantener un historial claro de los avances.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6777650" y="2571750"/>
            <a:ext cx="1573200" cy="1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Herramienta en línea para la diagramación técnica. Se utilizó para visualizar el Modelo 4+1 y la arquitectura de la base de datos.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3236904" y="1382465"/>
            <a:ext cx="673200" cy="646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9" name="Google Shape;209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36901" y="1345711"/>
            <a:ext cx="673200" cy="673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0" name="Google Shape;210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54988" y="399458"/>
            <a:ext cx="957102" cy="23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8568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263" y="77640"/>
            <a:ext cx="8677463" cy="483870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4"/>
          <p:cNvSpPr txBox="1"/>
          <p:nvPr/>
        </p:nvSpPr>
        <p:spPr>
          <a:xfrm>
            <a:off x="368025" y="399450"/>
            <a:ext cx="4093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conclusión</a:t>
            </a:r>
            <a:endParaRPr sz="30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217" name="Google Shape;217;p24"/>
          <p:cNvSpPr txBox="1"/>
          <p:nvPr/>
        </p:nvSpPr>
        <p:spPr>
          <a:xfrm>
            <a:off x="475750" y="1113075"/>
            <a:ext cx="79038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Nuestro proyecto OvalleStock consolidó una solución robusta y escalable, resultado de un proceso de aprendizaje, decisiones técnicas claras y trabajo en equipo. El uso del modelo 4+1 ordenó la arquitectura y dejó el sistema preparado para futuras mejoras como automatización e IA.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18" name="Google Shape;218;p24"/>
          <p:cNvPicPr preferRelativeResize="0"/>
          <p:nvPr/>
        </p:nvPicPr>
        <p:blipFill rotWithShape="1">
          <a:blip r:embed="rId4">
            <a:alphaModFix/>
          </a:blip>
          <a:srcRect b="28874" l="0" r="0" t="25220"/>
          <a:stretch/>
        </p:blipFill>
        <p:spPr>
          <a:xfrm>
            <a:off x="2767975" y="2890509"/>
            <a:ext cx="3319350" cy="1523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54988" y="399458"/>
            <a:ext cx="957102" cy="23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8568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263" y="77640"/>
            <a:ext cx="8677463" cy="4838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5"/>
          <p:cNvPicPr preferRelativeResize="0"/>
          <p:nvPr/>
        </p:nvPicPr>
        <p:blipFill rotWithShape="1">
          <a:blip r:embed="rId4">
            <a:alphaModFix/>
          </a:blip>
          <a:srcRect b="0" l="0" r="64651" t="0"/>
          <a:stretch/>
        </p:blipFill>
        <p:spPr>
          <a:xfrm>
            <a:off x="7494981" y="-16225"/>
            <a:ext cx="1656495" cy="3058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5"/>
          <p:cNvPicPr preferRelativeResize="0"/>
          <p:nvPr/>
        </p:nvPicPr>
        <p:blipFill rotWithShape="1">
          <a:blip r:embed="rId5">
            <a:alphaModFix/>
          </a:blip>
          <a:srcRect b="20369" l="53257" r="0" t="0"/>
          <a:stretch/>
        </p:blipFill>
        <p:spPr>
          <a:xfrm>
            <a:off x="0" y="2944875"/>
            <a:ext cx="1978700" cy="2198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1325" y="0"/>
            <a:ext cx="387650" cy="74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5"/>
          <p:cNvPicPr preferRelativeResize="0"/>
          <p:nvPr/>
        </p:nvPicPr>
        <p:blipFill rotWithShape="1">
          <a:blip r:embed="rId7">
            <a:alphaModFix/>
          </a:blip>
          <a:srcRect b="0" l="9690" r="0" t="0"/>
          <a:stretch/>
        </p:blipFill>
        <p:spPr>
          <a:xfrm>
            <a:off x="729124" y="1142413"/>
            <a:ext cx="972050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90750" y="3370137"/>
            <a:ext cx="1179575" cy="134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5"/>
          <p:cNvPicPr preferRelativeResize="0"/>
          <p:nvPr/>
        </p:nvPicPr>
        <p:blipFill rotWithShape="1">
          <a:blip r:embed="rId9">
            <a:alphaModFix/>
          </a:blip>
          <a:srcRect b="28874" l="0" r="0" t="25220"/>
          <a:stretch/>
        </p:blipFill>
        <p:spPr>
          <a:xfrm>
            <a:off x="3623750" y="3709405"/>
            <a:ext cx="1656500" cy="76040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 txBox="1"/>
          <p:nvPr/>
        </p:nvSpPr>
        <p:spPr>
          <a:xfrm>
            <a:off x="2163875" y="1006200"/>
            <a:ext cx="48684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0">
                <a:latin typeface="Bungee"/>
                <a:ea typeface="Bungee"/>
                <a:cs typeface="Bungee"/>
                <a:sym typeface="Bungee"/>
              </a:rPr>
              <a:t>PREGUNTAS DE LA COMISIÓN</a:t>
            </a:r>
            <a:endParaRPr sz="5500">
              <a:solidFill>
                <a:srgbClr val="000000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pic>
        <p:nvPicPr>
          <p:cNvPr id="232" name="Google Shape;232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834762" y="683651"/>
            <a:ext cx="1526625" cy="37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