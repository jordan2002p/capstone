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Bungee"/>
      <p:regular r:id="rId25"/>
    </p:embeddedFont>
    <p:embeddedFont>
      <p:font typeface="DM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F2EED3-E5AC-4BB3-89A1-235BA1BEA39C}">
  <a:tblStyle styleId="{2EF2EED3-E5AC-4BB3-89A1-235BA1BEA39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regular.fntdata"/><Relationship Id="rId25" Type="http://schemas.openxmlformats.org/officeDocument/2006/relationships/font" Target="fonts/Bungee-regular.fntdata"/><Relationship Id="rId28" Type="http://schemas.openxmlformats.org/officeDocument/2006/relationships/font" Target="fonts/DMSans-italic.fntdata"/><Relationship Id="rId27" Type="http://schemas.openxmlformats.org/officeDocument/2006/relationships/font" Target="fonts/DM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DM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496e44e6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496e44e6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496e44e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496e44e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49a8bbe2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49a8bbe2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49a8bbe2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49a8bbe2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49a8bbe2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49a8bbe2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49a8bbe2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49a8bbe2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49a8bbe20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49a8bbe20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49a8bbe20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49a8bbe20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49a8bbe20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49a8bbe20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49a8bbe20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49a8bbe20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49a8bbe20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49a8bbe20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49a8bbe20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49a8bbe20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49a8bbe20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49a8bbe20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49a8bbe20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949a8bbe20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49a8bbe2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49a8bbe2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49a8bbe20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49a8bbe20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49a8bbe2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949a8bbe2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49a8bbe2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49a8bbe2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8.png"/><Relationship Id="rId11" Type="http://schemas.openxmlformats.org/officeDocument/2006/relationships/image" Target="../media/image8.png"/><Relationship Id="rId10" Type="http://schemas.openxmlformats.org/officeDocument/2006/relationships/image" Target="../media/image5.png"/><Relationship Id="rId9"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1.png"/><Relationship Id="rId8"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22.png"/><Relationship Id="rId7" Type="http://schemas.openxmlformats.org/officeDocument/2006/relationships/image" Target="../media/image1.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 Id="rId10" Type="http://schemas.openxmlformats.org/officeDocument/2006/relationships/image" Target="../media/image2.png"/><Relationship Id="rId9"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33263" y="77640"/>
            <a:ext cx="8677463" cy="4838703"/>
          </a:xfrm>
          <a:prstGeom prst="rect">
            <a:avLst/>
          </a:prstGeom>
          <a:noFill/>
          <a:ln>
            <a:noFill/>
          </a:ln>
        </p:spPr>
      </p:pic>
      <p:pic>
        <p:nvPicPr>
          <p:cNvPr id="55" name="Google Shape;55;p13"/>
          <p:cNvPicPr preferRelativeResize="0"/>
          <p:nvPr/>
        </p:nvPicPr>
        <p:blipFill>
          <a:blip r:embed="rId4">
            <a:alphaModFix/>
          </a:blip>
          <a:stretch>
            <a:fillRect/>
          </a:stretch>
        </p:blipFill>
        <p:spPr>
          <a:xfrm>
            <a:off x="889650" y="1383765"/>
            <a:ext cx="7124649" cy="1523725"/>
          </a:xfrm>
          <a:prstGeom prst="rect">
            <a:avLst/>
          </a:prstGeom>
          <a:noFill/>
          <a:ln>
            <a:noFill/>
          </a:ln>
        </p:spPr>
      </p:pic>
      <p:pic>
        <p:nvPicPr>
          <p:cNvPr id="56" name="Google Shape;56;p13"/>
          <p:cNvPicPr preferRelativeResize="0"/>
          <p:nvPr/>
        </p:nvPicPr>
        <p:blipFill rotWithShape="1">
          <a:blip r:embed="rId5">
            <a:alphaModFix/>
          </a:blip>
          <a:srcRect b="28874" l="0" r="0" t="25220"/>
          <a:stretch/>
        </p:blipFill>
        <p:spPr>
          <a:xfrm>
            <a:off x="2845025" y="2160559"/>
            <a:ext cx="3319350" cy="1523724"/>
          </a:xfrm>
          <a:prstGeom prst="rect">
            <a:avLst/>
          </a:prstGeom>
          <a:noFill/>
          <a:ln>
            <a:noFill/>
          </a:ln>
        </p:spPr>
      </p:pic>
      <p:pic>
        <p:nvPicPr>
          <p:cNvPr id="57" name="Google Shape;57;p13"/>
          <p:cNvPicPr preferRelativeResize="0"/>
          <p:nvPr/>
        </p:nvPicPr>
        <p:blipFill>
          <a:blip r:embed="rId6">
            <a:alphaModFix/>
          </a:blip>
          <a:stretch>
            <a:fillRect/>
          </a:stretch>
        </p:blipFill>
        <p:spPr>
          <a:xfrm>
            <a:off x="3955500" y="729903"/>
            <a:ext cx="992950" cy="992950"/>
          </a:xfrm>
          <a:prstGeom prst="rect">
            <a:avLst/>
          </a:prstGeom>
          <a:noFill/>
          <a:ln>
            <a:noFill/>
          </a:ln>
        </p:spPr>
      </p:pic>
      <p:pic>
        <p:nvPicPr>
          <p:cNvPr id="58" name="Google Shape;58;p13"/>
          <p:cNvPicPr preferRelativeResize="0"/>
          <p:nvPr/>
        </p:nvPicPr>
        <p:blipFill>
          <a:blip r:embed="rId7">
            <a:alphaModFix/>
          </a:blip>
          <a:stretch>
            <a:fillRect/>
          </a:stretch>
        </p:blipFill>
        <p:spPr>
          <a:xfrm>
            <a:off x="1631822" y="1056001"/>
            <a:ext cx="1844525" cy="455750"/>
          </a:xfrm>
          <a:prstGeom prst="rect">
            <a:avLst/>
          </a:prstGeom>
          <a:noFill/>
          <a:ln>
            <a:noFill/>
          </a:ln>
        </p:spPr>
      </p:pic>
      <p:pic>
        <p:nvPicPr>
          <p:cNvPr id="59" name="Google Shape;59;p13"/>
          <p:cNvPicPr preferRelativeResize="0"/>
          <p:nvPr/>
        </p:nvPicPr>
        <p:blipFill rotWithShape="1">
          <a:blip r:embed="rId8">
            <a:alphaModFix/>
          </a:blip>
          <a:srcRect b="0" l="0" r="64651" t="0"/>
          <a:stretch/>
        </p:blipFill>
        <p:spPr>
          <a:xfrm>
            <a:off x="7494981" y="-16225"/>
            <a:ext cx="1656495" cy="3058276"/>
          </a:xfrm>
          <a:prstGeom prst="rect">
            <a:avLst/>
          </a:prstGeom>
          <a:noFill/>
          <a:ln>
            <a:noFill/>
          </a:ln>
        </p:spPr>
      </p:pic>
      <p:pic>
        <p:nvPicPr>
          <p:cNvPr id="60" name="Google Shape;60;p13"/>
          <p:cNvPicPr preferRelativeResize="0"/>
          <p:nvPr/>
        </p:nvPicPr>
        <p:blipFill rotWithShape="1">
          <a:blip r:embed="rId9">
            <a:alphaModFix/>
          </a:blip>
          <a:srcRect b="20369" l="53257" r="0" t="0"/>
          <a:stretch/>
        </p:blipFill>
        <p:spPr>
          <a:xfrm>
            <a:off x="0" y="2944875"/>
            <a:ext cx="1978700" cy="2198626"/>
          </a:xfrm>
          <a:prstGeom prst="rect">
            <a:avLst/>
          </a:prstGeom>
          <a:noFill/>
          <a:ln>
            <a:noFill/>
          </a:ln>
        </p:spPr>
      </p:pic>
      <p:pic>
        <p:nvPicPr>
          <p:cNvPr id="61" name="Google Shape;61;p13"/>
          <p:cNvPicPr preferRelativeResize="0"/>
          <p:nvPr/>
        </p:nvPicPr>
        <p:blipFill>
          <a:blip r:embed="rId10">
            <a:alphaModFix/>
          </a:blip>
          <a:stretch>
            <a:fillRect/>
          </a:stretch>
        </p:blipFill>
        <p:spPr>
          <a:xfrm>
            <a:off x="1021325" y="0"/>
            <a:ext cx="387650" cy="740125"/>
          </a:xfrm>
          <a:prstGeom prst="rect">
            <a:avLst/>
          </a:prstGeom>
          <a:noFill/>
          <a:ln>
            <a:noFill/>
          </a:ln>
        </p:spPr>
      </p:pic>
      <p:pic>
        <p:nvPicPr>
          <p:cNvPr id="62" name="Google Shape;62;p13"/>
          <p:cNvPicPr preferRelativeResize="0"/>
          <p:nvPr/>
        </p:nvPicPr>
        <p:blipFill>
          <a:blip r:embed="rId11">
            <a:alphaModFix/>
          </a:blip>
          <a:stretch>
            <a:fillRect/>
          </a:stretch>
        </p:blipFill>
        <p:spPr>
          <a:xfrm>
            <a:off x="7290750" y="3370137"/>
            <a:ext cx="1179575" cy="1348100"/>
          </a:xfrm>
          <a:prstGeom prst="rect">
            <a:avLst/>
          </a:prstGeom>
          <a:noFill/>
          <a:ln>
            <a:noFill/>
          </a:ln>
        </p:spPr>
      </p:pic>
      <p:sp>
        <p:nvSpPr>
          <p:cNvPr id="63" name="Google Shape;63;p13"/>
          <p:cNvSpPr txBox="1"/>
          <p:nvPr/>
        </p:nvSpPr>
        <p:spPr>
          <a:xfrm>
            <a:off x="2272700" y="3715575"/>
            <a:ext cx="4358400" cy="92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500">
                <a:solidFill>
                  <a:schemeClr val="dk1"/>
                </a:solidFill>
                <a:latin typeface="DM Sans"/>
                <a:ea typeface="DM Sans"/>
                <a:cs typeface="DM Sans"/>
                <a:sym typeface="DM Sans"/>
              </a:rPr>
              <a:t>Capstone_004D</a:t>
            </a:r>
            <a:endParaRPr sz="1500">
              <a:solidFill>
                <a:schemeClr val="dk1"/>
              </a:solidFill>
              <a:latin typeface="DM Sans"/>
              <a:ea typeface="DM Sans"/>
              <a:cs typeface="DM Sans"/>
              <a:sym typeface="DM Sans"/>
            </a:endParaRPr>
          </a:p>
          <a:p>
            <a:pPr indent="0" lvl="0" marL="0" rtl="0" algn="ctr">
              <a:spcBef>
                <a:spcPts val="0"/>
              </a:spcBef>
              <a:spcAft>
                <a:spcPts val="0"/>
              </a:spcAft>
              <a:buNone/>
            </a:pPr>
            <a:r>
              <a:rPr lang="es" sz="1500">
                <a:solidFill>
                  <a:schemeClr val="dk1"/>
                </a:solidFill>
                <a:latin typeface="DM Sans"/>
                <a:ea typeface="DM Sans"/>
                <a:cs typeface="DM Sans"/>
                <a:sym typeface="DM Sans"/>
              </a:rPr>
              <a:t>Martin Jeraldino, Jordan Peña y Renato Tapia</a:t>
            </a:r>
            <a:endParaRPr sz="1500">
              <a:solidFill>
                <a:schemeClr val="dk1"/>
              </a:solidFill>
              <a:latin typeface="DM Sans"/>
              <a:ea typeface="DM Sans"/>
              <a:cs typeface="DM Sans"/>
              <a:sym typeface="DM Sans"/>
            </a:endParaRPr>
          </a:p>
          <a:p>
            <a:pPr indent="0" lvl="0" marL="0" rtl="0" algn="ctr">
              <a:spcBef>
                <a:spcPts val="0"/>
              </a:spcBef>
              <a:spcAft>
                <a:spcPts val="0"/>
              </a:spcAft>
              <a:buNone/>
            </a:pPr>
            <a:r>
              <a:rPr lang="es" sz="1500">
                <a:solidFill>
                  <a:schemeClr val="dk1"/>
                </a:solidFill>
                <a:latin typeface="DM Sans"/>
                <a:ea typeface="DM Sans"/>
                <a:cs typeface="DM Sans"/>
                <a:sym typeface="DM Sans"/>
              </a:rPr>
              <a:t>Docente: Ceferino Anibal Sotelo Becerra</a:t>
            </a:r>
            <a:endParaRPr sz="1500">
              <a:solidFill>
                <a:schemeClr val="dk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67" name="Shape 67"/>
        <p:cNvGrpSpPr/>
        <p:nvPr/>
      </p:nvGrpSpPr>
      <p:grpSpPr>
        <a:xfrm>
          <a:off x="0" y="0"/>
          <a:ext cx="0" cy="0"/>
          <a:chOff x="0" y="0"/>
          <a:chExt cx="0" cy="0"/>
        </a:xfrm>
      </p:grpSpPr>
      <p:pic>
        <p:nvPicPr>
          <p:cNvPr id="68" name="Google Shape;68;p14"/>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69" name="Google Shape;69;p14"/>
          <p:cNvSpPr txBox="1"/>
          <p:nvPr/>
        </p:nvSpPr>
        <p:spPr>
          <a:xfrm>
            <a:off x="368025" y="399450"/>
            <a:ext cx="40932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Introducción</a:t>
            </a:r>
            <a:endParaRPr sz="3000">
              <a:solidFill>
                <a:schemeClr val="dk1"/>
              </a:solidFill>
              <a:latin typeface="Bungee"/>
              <a:ea typeface="Bungee"/>
              <a:cs typeface="Bungee"/>
              <a:sym typeface="Bungee"/>
            </a:endParaRPr>
          </a:p>
        </p:txBody>
      </p:sp>
      <p:sp>
        <p:nvSpPr>
          <p:cNvPr id="70" name="Google Shape;70;p14"/>
          <p:cNvSpPr txBox="1"/>
          <p:nvPr/>
        </p:nvSpPr>
        <p:spPr>
          <a:xfrm>
            <a:off x="475750" y="1113075"/>
            <a:ext cx="7903800" cy="15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1"/>
                </a:solidFill>
                <a:latin typeface="DM Sans"/>
                <a:ea typeface="DM Sans"/>
                <a:cs typeface="DM Sans"/>
                <a:sym typeface="DM Sans"/>
              </a:rPr>
              <a:t>OvalleStock es una plataforma web responsiva diseñada para optimizar el control de inventario y la logística de productos en el mercado Lo Valledor. El sistema busca facilitar la gestión de stock mediante códigos automáticos y reportes. Su diseño se basa en una arquitectura modular por capas que asegura escalabilidad y mantenimiento.</a:t>
            </a:r>
            <a:endParaRPr sz="1700">
              <a:solidFill>
                <a:schemeClr val="dk1"/>
              </a:solidFill>
              <a:latin typeface="DM Sans"/>
              <a:ea typeface="DM Sans"/>
              <a:cs typeface="DM Sans"/>
              <a:sym typeface="DM Sans"/>
            </a:endParaRPr>
          </a:p>
        </p:txBody>
      </p:sp>
      <p:pic>
        <p:nvPicPr>
          <p:cNvPr id="71" name="Google Shape;71;p14"/>
          <p:cNvPicPr preferRelativeResize="0"/>
          <p:nvPr/>
        </p:nvPicPr>
        <p:blipFill>
          <a:blip r:embed="rId4">
            <a:alphaModFix/>
          </a:blip>
          <a:stretch>
            <a:fillRect/>
          </a:stretch>
        </p:blipFill>
        <p:spPr>
          <a:xfrm>
            <a:off x="2601250" y="2688375"/>
            <a:ext cx="3652800" cy="1831249"/>
          </a:xfrm>
          <a:prstGeom prst="rect">
            <a:avLst/>
          </a:prstGeom>
          <a:noFill/>
          <a:ln cap="flat" cmpd="sng" w="19050">
            <a:solidFill>
              <a:srgbClr val="000000"/>
            </a:solidFill>
            <a:prstDash val="solid"/>
            <a:round/>
            <a:headEnd len="sm" w="sm" type="none"/>
            <a:tailEnd len="sm" w="sm" type="none"/>
          </a:ln>
        </p:spPr>
      </p:pic>
      <p:pic>
        <p:nvPicPr>
          <p:cNvPr id="72" name="Google Shape;72;p14"/>
          <p:cNvPicPr preferRelativeResize="0"/>
          <p:nvPr/>
        </p:nvPicPr>
        <p:blipFill>
          <a:blip r:embed="rId5">
            <a:alphaModFix/>
          </a:blip>
          <a:stretch>
            <a:fillRect/>
          </a:stretch>
        </p:blipFill>
        <p:spPr>
          <a:xfrm>
            <a:off x="7665900" y="399447"/>
            <a:ext cx="1065950" cy="263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76" name="Shape 76"/>
        <p:cNvGrpSpPr/>
        <p:nvPr/>
      </p:nvGrpSpPr>
      <p:grpSpPr>
        <a:xfrm>
          <a:off x="0" y="0"/>
          <a:ext cx="0" cy="0"/>
          <a:chOff x="0" y="0"/>
          <a:chExt cx="0" cy="0"/>
        </a:xfrm>
      </p:grpSpPr>
      <p:pic>
        <p:nvPicPr>
          <p:cNvPr id="77" name="Google Shape;77;p15"/>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78" name="Google Shape;78;p15"/>
          <p:cNvSpPr txBox="1"/>
          <p:nvPr/>
        </p:nvSpPr>
        <p:spPr>
          <a:xfrm>
            <a:off x="368025" y="399450"/>
            <a:ext cx="58032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metodología ágil</a:t>
            </a:r>
            <a:endParaRPr sz="3000">
              <a:solidFill>
                <a:schemeClr val="dk1"/>
              </a:solidFill>
              <a:latin typeface="Bungee"/>
              <a:ea typeface="Bungee"/>
              <a:cs typeface="Bungee"/>
              <a:sym typeface="Bungee"/>
            </a:endParaRPr>
          </a:p>
        </p:txBody>
      </p:sp>
      <p:sp>
        <p:nvSpPr>
          <p:cNvPr id="79" name="Google Shape;79;p15"/>
          <p:cNvSpPr txBox="1"/>
          <p:nvPr/>
        </p:nvSpPr>
        <p:spPr>
          <a:xfrm>
            <a:off x="475750" y="1113075"/>
            <a:ext cx="7903800" cy="12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1"/>
                </a:solidFill>
                <a:latin typeface="DM Sans"/>
                <a:ea typeface="DM Sans"/>
                <a:cs typeface="DM Sans"/>
                <a:sym typeface="DM Sans"/>
              </a:rPr>
              <a:t>Se utilizó la metodología Scrum, estructurando el trabajo en sprints iterativos para mayor adaptabilidad. La gestión se centró en Jira, usando épicas e historias de usuario para priorizar tareas y asegurar la trazabilidad del avance. La colaboración y la comunicación constante fueron fundamentales.</a:t>
            </a:r>
            <a:endParaRPr sz="1700">
              <a:solidFill>
                <a:schemeClr val="dk1"/>
              </a:solidFill>
              <a:latin typeface="DM Sans"/>
              <a:ea typeface="DM Sans"/>
              <a:cs typeface="DM Sans"/>
              <a:sym typeface="DM Sans"/>
            </a:endParaRPr>
          </a:p>
        </p:txBody>
      </p:sp>
      <p:pic>
        <p:nvPicPr>
          <p:cNvPr id="80" name="Google Shape;80;p15"/>
          <p:cNvPicPr preferRelativeResize="0"/>
          <p:nvPr/>
        </p:nvPicPr>
        <p:blipFill rotWithShape="1">
          <a:blip r:embed="rId4">
            <a:alphaModFix/>
          </a:blip>
          <a:srcRect b="8408" l="0" r="0" t="0"/>
          <a:stretch/>
        </p:blipFill>
        <p:spPr>
          <a:xfrm>
            <a:off x="2401475" y="2464050"/>
            <a:ext cx="4052375" cy="2082525"/>
          </a:xfrm>
          <a:prstGeom prst="rect">
            <a:avLst/>
          </a:prstGeom>
          <a:noFill/>
          <a:ln>
            <a:noFill/>
          </a:ln>
        </p:spPr>
      </p:pic>
      <p:pic>
        <p:nvPicPr>
          <p:cNvPr id="81" name="Google Shape;81;p15"/>
          <p:cNvPicPr preferRelativeResize="0"/>
          <p:nvPr/>
        </p:nvPicPr>
        <p:blipFill>
          <a:blip r:embed="rId5">
            <a:alphaModFix/>
          </a:blip>
          <a:stretch>
            <a:fillRect/>
          </a:stretch>
        </p:blipFill>
        <p:spPr>
          <a:xfrm>
            <a:off x="7665900" y="399447"/>
            <a:ext cx="1065950" cy="263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85" name="Shape 85"/>
        <p:cNvGrpSpPr/>
        <p:nvPr/>
      </p:nvGrpSpPr>
      <p:grpSpPr>
        <a:xfrm>
          <a:off x="0" y="0"/>
          <a:ext cx="0" cy="0"/>
          <a:chOff x="0" y="0"/>
          <a:chExt cx="0" cy="0"/>
        </a:xfrm>
      </p:grpSpPr>
      <p:pic>
        <p:nvPicPr>
          <p:cNvPr id="86" name="Google Shape;86;p16"/>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87" name="Google Shape;87;p16"/>
          <p:cNvSpPr txBox="1"/>
          <p:nvPr/>
        </p:nvSpPr>
        <p:spPr>
          <a:xfrm>
            <a:off x="368025" y="399450"/>
            <a:ext cx="7419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herramientas utilizadas</a:t>
            </a:r>
            <a:endParaRPr sz="3000">
              <a:solidFill>
                <a:schemeClr val="dk1"/>
              </a:solidFill>
              <a:latin typeface="Bungee"/>
              <a:ea typeface="Bungee"/>
              <a:cs typeface="Bungee"/>
              <a:sym typeface="Bungee"/>
            </a:endParaRPr>
          </a:p>
        </p:txBody>
      </p:sp>
      <p:sp>
        <p:nvSpPr>
          <p:cNvPr id="88" name="Google Shape;88;p16"/>
          <p:cNvSpPr/>
          <p:nvPr/>
        </p:nvSpPr>
        <p:spPr>
          <a:xfrm>
            <a:off x="664225" y="2028675"/>
            <a:ext cx="1710000" cy="2329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6"/>
          <p:cNvSpPr/>
          <p:nvPr/>
        </p:nvSpPr>
        <p:spPr>
          <a:xfrm>
            <a:off x="2728600" y="2028675"/>
            <a:ext cx="1710000" cy="2329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6"/>
          <p:cNvSpPr/>
          <p:nvPr/>
        </p:nvSpPr>
        <p:spPr>
          <a:xfrm>
            <a:off x="4718925" y="2028675"/>
            <a:ext cx="1710000" cy="2329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6"/>
          <p:cNvSpPr/>
          <p:nvPr/>
        </p:nvSpPr>
        <p:spPr>
          <a:xfrm>
            <a:off x="6709250" y="2028675"/>
            <a:ext cx="1710000" cy="2329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p:nvPr/>
        </p:nvSpPr>
        <p:spPr>
          <a:xfrm>
            <a:off x="1182625" y="1382475"/>
            <a:ext cx="673200" cy="6462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6"/>
          <p:cNvSpPr/>
          <p:nvPr/>
        </p:nvSpPr>
        <p:spPr>
          <a:xfrm>
            <a:off x="5237325" y="1382475"/>
            <a:ext cx="673200" cy="6462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6"/>
          <p:cNvSpPr/>
          <p:nvPr/>
        </p:nvSpPr>
        <p:spPr>
          <a:xfrm>
            <a:off x="7227650" y="1382475"/>
            <a:ext cx="673200" cy="6462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5" name="Google Shape;95;p16"/>
          <p:cNvPicPr preferRelativeResize="0"/>
          <p:nvPr/>
        </p:nvPicPr>
        <p:blipFill>
          <a:blip r:embed="rId4">
            <a:alphaModFix/>
          </a:blip>
          <a:stretch>
            <a:fillRect/>
          </a:stretch>
        </p:blipFill>
        <p:spPr>
          <a:xfrm>
            <a:off x="7227650" y="1369010"/>
            <a:ext cx="673198" cy="646200"/>
          </a:xfrm>
          <a:prstGeom prst="rect">
            <a:avLst/>
          </a:prstGeom>
          <a:noFill/>
          <a:ln cap="flat" cmpd="sng" w="19050">
            <a:solidFill>
              <a:schemeClr val="dk1"/>
            </a:solidFill>
            <a:prstDash val="solid"/>
            <a:round/>
            <a:headEnd len="sm" w="sm" type="none"/>
            <a:tailEnd len="sm" w="sm" type="none"/>
          </a:ln>
        </p:spPr>
      </p:pic>
      <p:pic>
        <p:nvPicPr>
          <p:cNvPr id="96" name="Google Shape;96;p16"/>
          <p:cNvPicPr preferRelativeResize="0"/>
          <p:nvPr/>
        </p:nvPicPr>
        <p:blipFill rotWithShape="1">
          <a:blip r:embed="rId5">
            <a:alphaModFix/>
          </a:blip>
          <a:srcRect b="11944" l="11211" r="11040" t="11438"/>
          <a:stretch/>
        </p:blipFill>
        <p:spPr>
          <a:xfrm>
            <a:off x="5237325" y="1373904"/>
            <a:ext cx="673200" cy="646199"/>
          </a:xfrm>
          <a:prstGeom prst="rect">
            <a:avLst/>
          </a:prstGeom>
          <a:noFill/>
          <a:ln cap="flat" cmpd="sng" w="19050">
            <a:solidFill>
              <a:schemeClr val="dk1"/>
            </a:solidFill>
            <a:prstDash val="solid"/>
            <a:round/>
            <a:headEnd len="sm" w="sm" type="none"/>
            <a:tailEnd len="sm" w="sm" type="none"/>
          </a:ln>
        </p:spPr>
      </p:pic>
      <p:pic>
        <p:nvPicPr>
          <p:cNvPr id="97" name="Google Shape;97;p16"/>
          <p:cNvPicPr preferRelativeResize="0"/>
          <p:nvPr/>
        </p:nvPicPr>
        <p:blipFill>
          <a:blip r:embed="rId6">
            <a:alphaModFix/>
          </a:blip>
          <a:stretch>
            <a:fillRect/>
          </a:stretch>
        </p:blipFill>
        <p:spPr>
          <a:xfrm>
            <a:off x="1246700" y="1433050"/>
            <a:ext cx="545049" cy="545049"/>
          </a:xfrm>
          <a:prstGeom prst="rect">
            <a:avLst/>
          </a:prstGeom>
          <a:noFill/>
          <a:ln>
            <a:noFill/>
          </a:ln>
        </p:spPr>
      </p:pic>
      <p:sp>
        <p:nvSpPr>
          <p:cNvPr id="98" name="Google Shape;98;p16"/>
          <p:cNvSpPr txBox="1"/>
          <p:nvPr/>
        </p:nvSpPr>
        <p:spPr>
          <a:xfrm>
            <a:off x="810775" y="2115150"/>
            <a:ext cx="1416900" cy="45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200">
                <a:solidFill>
                  <a:schemeClr val="dk1"/>
                </a:solidFill>
                <a:latin typeface="Bungee"/>
                <a:ea typeface="Bungee"/>
                <a:cs typeface="Bungee"/>
                <a:sym typeface="Bungee"/>
              </a:rPr>
              <a:t>Visual sTUDIO CODE</a:t>
            </a:r>
            <a:endParaRPr sz="1200">
              <a:solidFill>
                <a:schemeClr val="dk1"/>
              </a:solidFill>
              <a:latin typeface="Bungee"/>
              <a:ea typeface="Bungee"/>
              <a:cs typeface="Bungee"/>
              <a:sym typeface="Bungee"/>
            </a:endParaRPr>
          </a:p>
        </p:txBody>
      </p:sp>
      <p:sp>
        <p:nvSpPr>
          <p:cNvPr id="99" name="Google Shape;99;p16"/>
          <p:cNvSpPr txBox="1"/>
          <p:nvPr/>
        </p:nvSpPr>
        <p:spPr>
          <a:xfrm>
            <a:off x="2838125" y="2115150"/>
            <a:ext cx="1416900" cy="45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200">
                <a:solidFill>
                  <a:schemeClr val="dk1"/>
                </a:solidFill>
                <a:latin typeface="Bungee"/>
                <a:ea typeface="Bungee"/>
                <a:cs typeface="Bungee"/>
                <a:sym typeface="Bungee"/>
              </a:rPr>
              <a:t>Mysql</a:t>
            </a:r>
            <a:endParaRPr sz="1200">
              <a:solidFill>
                <a:schemeClr val="dk1"/>
              </a:solidFill>
              <a:latin typeface="Bungee"/>
              <a:ea typeface="Bungee"/>
              <a:cs typeface="Bungee"/>
              <a:sym typeface="Bungee"/>
            </a:endParaRPr>
          </a:p>
        </p:txBody>
      </p:sp>
      <p:sp>
        <p:nvSpPr>
          <p:cNvPr id="100" name="Google Shape;100;p16"/>
          <p:cNvSpPr txBox="1"/>
          <p:nvPr/>
        </p:nvSpPr>
        <p:spPr>
          <a:xfrm>
            <a:off x="4865475" y="2115150"/>
            <a:ext cx="1416900" cy="45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200">
                <a:solidFill>
                  <a:schemeClr val="dk1"/>
                </a:solidFill>
                <a:latin typeface="Bungee"/>
                <a:ea typeface="Bungee"/>
                <a:cs typeface="Bungee"/>
                <a:sym typeface="Bungee"/>
              </a:rPr>
              <a:t>GITHUB</a:t>
            </a:r>
            <a:endParaRPr sz="1200">
              <a:solidFill>
                <a:schemeClr val="dk1"/>
              </a:solidFill>
              <a:latin typeface="Bungee"/>
              <a:ea typeface="Bungee"/>
              <a:cs typeface="Bungee"/>
              <a:sym typeface="Bungee"/>
            </a:endParaRPr>
          </a:p>
        </p:txBody>
      </p:sp>
      <p:sp>
        <p:nvSpPr>
          <p:cNvPr id="101" name="Google Shape;101;p16"/>
          <p:cNvSpPr txBox="1"/>
          <p:nvPr/>
        </p:nvSpPr>
        <p:spPr>
          <a:xfrm>
            <a:off x="6855800" y="2115150"/>
            <a:ext cx="1416900" cy="45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200">
                <a:solidFill>
                  <a:schemeClr val="dk1"/>
                </a:solidFill>
                <a:latin typeface="Bungee"/>
                <a:ea typeface="Bungee"/>
                <a:cs typeface="Bungee"/>
                <a:sym typeface="Bungee"/>
              </a:rPr>
              <a:t>DRAW.IO</a:t>
            </a:r>
            <a:endParaRPr sz="1200">
              <a:solidFill>
                <a:schemeClr val="dk1"/>
              </a:solidFill>
              <a:latin typeface="Bungee"/>
              <a:ea typeface="Bungee"/>
              <a:cs typeface="Bungee"/>
              <a:sym typeface="Bungee"/>
            </a:endParaRPr>
          </a:p>
        </p:txBody>
      </p:sp>
      <p:sp>
        <p:nvSpPr>
          <p:cNvPr id="102" name="Google Shape;102;p16"/>
          <p:cNvSpPr txBox="1"/>
          <p:nvPr/>
        </p:nvSpPr>
        <p:spPr>
          <a:xfrm>
            <a:off x="732625" y="2571750"/>
            <a:ext cx="1573200" cy="14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latin typeface="DM Sans"/>
                <a:ea typeface="DM Sans"/>
                <a:cs typeface="DM Sans"/>
                <a:sym typeface="DM Sans"/>
              </a:rPr>
              <a:t>Entorno de desarrollo principal para Python/Django y tecnologías web (HTML/CSS/JS). Facilitó la organización modular del código.</a:t>
            </a:r>
            <a:endParaRPr sz="1100">
              <a:solidFill>
                <a:schemeClr val="dk1"/>
              </a:solidFill>
              <a:latin typeface="DM Sans"/>
              <a:ea typeface="DM Sans"/>
              <a:cs typeface="DM Sans"/>
              <a:sym typeface="DM Sans"/>
            </a:endParaRPr>
          </a:p>
        </p:txBody>
      </p:sp>
      <p:sp>
        <p:nvSpPr>
          <p:cNvPr id="103" name="Google Shape;103;p16"/>
          <p:cNvSpPr txBox="1"/>
          <p:nvPr/>
        </p:nvSpPr>
        <p:spPr>
          <a:xfrm>
            <a:off x="2797000" y="2571750"/>
            <a:ext cx="1573200" cy="14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latin typeface="DM Sans"/>
                <a:ea typeface="DM Sans"/>
                <a:cs typeface="DM Sans"/>
                <a:sym typeface="DM Sans"/>
              </a:rPr>
              <a:t>Base de datos relacional liviana y de fácil integración con Django. Ideal para entornos de desarrollo y pruebas por su estructura basada en archivos.</a:t>
            </a:r>
            <a:endParaRPr sz="1100">
              <a:solidFill>
                <a:schemeClr val="dk1"/>
              </a:solidFill>
              <a:latin typeface="DM Sans"/>
              <a:ea typeface="DM Sans"/>
              <a:cs typeface="DM Sans"/>
              <a:sym typeface="DM Sans"/>
            </a:endParaRPr>
          </a:p>
        </p:txBody>
      </p:sp>
      <p:sp>
        <p:nvSpPr>
          <p:cNvPr id="104" name="Google Shape;104;p16"/>
          <p:cNvSpPr txBox="1"/>
          <p:nvPr/>
        </p:nvSpPr>
        <p:spPr>
          <a:xfrm>
            <a:off x="4787325" y="2571750"/>
            <a:ext cx="1573200" cy="14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latin typeface="DM Sans"/>
                <a:ea typeface="DM Sans"/>
                <a:cs typeface="DM Sans"/>
                <a:sym typeface="DM Sans"/>
              </a:rPr>
              <a:t>Plataforma para el control de versiones y la colaboración. Permitió la gestión segura del código y mantener un historial claro de los avances.</a:t>
            </a:r>
            <a:endParaRPr sz="1100">
              <a:solidFill>
                <a:schemeClr val="dk1"/>
              </a:solidFill>
              <a:latin typeface="DM Sans"/>
              <a:ea typeface="DM Sans"/>
              <a:cs typeface="DM Sans"/>
              <a:sym typeface="DM Sans"/>
            </a:endParaRPr>
          </a:p>
        </p:txBody>
      </p:sp>
      <p:sp>
        <p:nvSpPr>
          <p:cNvPr id="105" name="Google Shape;105;p16"/>
          <p:cNvSpPr txBox="1"/>
          <p:nvPr/>
        </p:nvSpPr>
        <p:spPr>
          <a:xfrm>
            <a:off x="6777650" y="2571750"/>
            <a:ext cx="1573200" cy="14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latin typeface="DM Sans"/>
                <a:ea typeface="DM Sans"/>
                <a:cs typeface="DM Sans"/>
                <a:sym typeface="DM Sans"/>
              </a:rPr>
              <a:t>Herramienta en línea para la diagramación técnica. Se utilizó para visualizar el Modelo 4+1 y la arquitectura de la base de datos.</a:t>
            </a:r>
            <a:endParaRPr sz="1100">
              <a:solidFill>
                <a:schemeClr val="dk1"/>
              </a:solidFill>
              <a:latin typeface="DM Sans"/>
              <a:ea typeface="DM Sans"/>
              <a:cs typeface="DM Sans"/>
              <a:sym typeface="DM Sans"/>
            </a:endParaRPr>
          </a:p>
        </p:txBody>
      </p:sp>
      <p:pic>
        <p:nvPicPr>
          <p:cNvPr id="106" name="Google Shape;106;p16"/>
          <p:cNvPicPr preferRelativeResize="0"/>
          <p:nvPr/>
        </p:nvPicPr>
        <p:blipFill>
          <a:blip r:embed="rId7">
            <a:alphaModFix/>
          </a:blip>
          <a:stretch>
            <a:fillRect/>
          </a:stretch>
        </p:blipFill>
        <p:spPr>
          <a:xfrm>
            <a:off x="7665900" y="399447"/>
            <a:ext cx="1065950" cy="263375"/>
          </a:xfrm>
          <a:prstGeom prst="rect">
            <a:avLst/>
          </a:prstGeom>
          <a:noFill/>
          <a:ln>
            <a:noFill/>
          </a:ln>
        </p:spPr>
      </p:pic>
      <p:sp>
        <p:nvSpPr>
          <p:cNvPr id="107" name="Google Shape;107;p16"/>
          <p:cNvSpPr/>
          <p:nvPr/>
        </p:nvSpPr>
        <p:spPr>
          <a:xfrm>
            <a:off x="3236904" y="1382465"/>
            <a:ext cx="673200" cy="6462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 name="Google Shape;108;p16"/>
          <p:cNvPicPr preferRelativeResize="0"/>
          <p:nvPr/>
        </p:nvPicPr>
        <p:blipFill>
          <a:blip r:embed="rId8">
            <a:alphaModFix/>
          </a:blip>
          <a:stretch>
            <a:fillRect/>
          </a:stretch>
        </p:blipFill>
        <p:spPr>
          <a:xfrm>
            <a:off x="3236901" y="1345711"/>
            <a:ext cx="673200" cy="67320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12" name="Shape 112"/>
        <p:cNvGrpSpPr/>
        <p:nvPr/>
      </p:nvGrpSpPr>
      <p:grpSpPr>
        <a:xfrm>
          <a:off x="0" y="0"/>
          <a:ext cx="0" cy="0"/>
          <a:chOff x="0" y="0"/>
          <a:chExt cx="0" cy="0"/>
        </a:xfrm>
      </p:grpSpPr>
      <p:pic>
        <p:nvPicPr>
          <p:cNvPr id="113" name="Google Shape;113;p17"/>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14" name="Google Shape;114;p17"/>
          <p:cNvSpPr txBox="1"/>
          <p:nvPr/>
        </p:nvSpPr>
        <p:spPr>
          <a:xfrm>
            <a:off x="368025" y="399450"/>
            <a:ext cx="7419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documentación técnica</a:t>
            </a:r>
            <a:endParaRPr sz="3000">
              <a:solidFill>
                <a:schemeClr val="dk1"/>
              </a:solidFill>
              <a:latin typeface="Bungee"/>
              <a:ea typeface="Bungee"/>
              <a:cs typeface="Bungee"/>
              <a:sym typeface="Bungee"/>
            </a:endParaRPr>
          </a:p>
        </p:txBody>
      </p:sp>
      <p:sp>
        <p:nvSpPr>
          <p:cNvPr id="115" name="Google Shape;115;p17"/>
          <p:cNvSpPr txBox="1"/>
          <p:nvPr/>
        </p:nvSpPr>
        <p:spPr>
          <a:xfrm>
            <a:off x="475750" y="1113075"/>
            <a:ext cx="7903800" cy="12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1"/>
                </a:solidFill>
                <a:latin typeface="DM Sans"/>
                <a:ea typeface="DM Sans"/>
                <a:cs typeface="DM Sans"/>
                <a:sym typeface="DM Sans"/>
              </a:rPr>
              <a:t>Se definieron requerimientos funcionales (ej. Gestión de Productos) y no funcionales (ej. Interfaz responsiva). Estos se transformaron en épicas y se agruparon en historias de usuario para guiar la planificación y el desarrollo de subtareas. A continuación, un ejemplo de historia de usuario:</a:t>
            </a:r>
            <a:endParaRPr sz="1700">
              <a:solidFill>
                <a:schemeClr val="dk1"/>
              </a:solidFill>
              <a:latin typeface="DM Sans"/>
              <a:ea typeface="DM Sans"/>
              <a:cs typeface="DM Sans"/>
              <a:sym typeface="DM Sans"/>
            </a:endParaRPr>
          </a:p>
        </p:txBody>
      </p:sp>
      <p:graphicFrame>
        <p:nvGraphicFramePr>
          <p:cNvPr id="116" name="Google Shape;116;p17"/>
          <p:cNvGraphicFramePr/>
          <p:nvPr/>
        </p:nvGraphicFramePr>
        <p:xfrm>
          <a:off x="952500" y="2466000"/>
          <a:ext cx="3000000" cy="3000000"/>
        </p:xfrm>
        <a:graphic>
          <a:graphicData uri="http://schemas.openxmlformats.org/drawingml/2006/table">
            <a:tbl>
              <a:tblPr>
                <a:noFill/>
                <a:tableStyleId>{2EF2EED3-E5AC-4BB3-89A1-235BA1BEA39C}</a:tableStyleId>
              </a:tblPr>
              <a:tblGrid>
                <a:gridCol w="786425"/>
                <a:gridCol w="2159825"/>
                <a:gridCol w="2483000"/>
                <a:gridCol w="1809750"/>
              </a:tblGrid>
              <a:tr h="381000">
                <a:tc>
                  <a:txBody>
                    <a:bodyPr/>
                    <a:lstStyle/>
                    <a:p>
                      <a:pPr indent="0" lvl="0" marL="0" rtl="0" algn="l">
                        <a:spcBef>
                          <a:spcPts val="0"/>
                        </a:spcBef>
                        <a:spcAft>
                          <a:spcPts val="0"/>
                        </a:spcAft>
                        <a:buNone/>
                      </a:pPr>
                      <a:r>
                        <a:rPr lang="es">
                          <a:latin typeface="DM Sans"/>
                          <a:ea typeface="DM Sans"/>
                          <a:cs typeface="DM Sans"/>
                          <a:sym typeface="DM Sans"/>
                        </a:rPr>
                        <a:t>Código</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4EEDBB"/>
                    </a:solidFill>
                  </a:tcPr>
                </a:tc>
                <a:tc>
                  <a:txBody>
                    <a:bodyPr/>
                    <a:lstStyle/>
                    <a:p>
                      <a:pPr indent="0" lvl="0" marL="0" rtl="0" algn="l">
                        <a:spcBef>
                          <a:spcPts val="0"/>
                        </a:spcBef>
                        <a:spcAft>
                          <a:spcPts val="0"/>
                        </a:spcAft>
                        <a:buNone/>
                      </a:pPr>
                      <a:r>
                        <a:rPr lang="es">
                          <a:latin typeface="DM Sans"/>
                          <a:ea typeface="DM Sans"/>
                          <a:cs typeface="DM Sans"/>
                          <a:sym typeface="DM Sans"/>
                        </a:rPr>
                        <a:t>Historia de usuario</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4EEDBB"/>
                    </a:solidFill>
                  </a:tcPr>
                </a:tc>
                <a:tc>
                  <a:txBody>
                    <a:bodyPr/>
                    <a:lstStyle/>
                    <a:p>
                      <a:pPr indent="0" lvl="0" marL="0" rtl="0" algn="l">
                        <a:spcBef>
                          <a:spcPts val="0"/>
                        </a:spcBef>
                        <a:spcAft>
                          <a:spcPts val="0"/>
                        </a:spcAft>
                        <a:buNone/>
                      </a:pPr>
                      <a:r>
                        <a:rPr lang="es">
                          <a:latin typeface="DM Sans"/>
                          <a:ea typeface="DM Sans"/>
                          <a:cs typeface="DM Sans"/>
                          <a:sym typeface="DM Sans"/>
                        </a:rPr>
                        <a:t>Descripción</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4EEDBB"/>
                    </a:solidFill>
                  </a:tcPr>
                </a:tc>
                <a:tc>
                  <a:txBody>
                    <a:bodyPr/>
                    <a:lstStyle/>
                    <a:p>
                      <a:pPr indent="0" lvl="0" marL="0" rtl="0" algn="l">
                        <a:spcBef>
                          <a:spcPts val="0"/>
                        </a:spcBef>
                        <a:spcAft>
                          <a:spcPts val="0"/>
                        </a:spcAft>
                        <a:buNone/>
                      </a:pPr>
                      <a:r>
                        <a:rPr lang="es">
                          <a:latin typeface="DM Sans"/>
                          <a:ea typeface="DM Sans"/>
                          <a:cs typeface="DM Sans"/>
                          <a:sym typeface="DM Sans"/>
                        </a:rPr>
                        <a:t>Subtarea</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4EEDBB"/>
                    </a:solidFill>
                  </a:tcPr>
                </a:tc>
              </a:tr>
              <a:tr h="1495875">
                <a:tc>
                  <a:txBody>
                    <a:bodyPr/>
                    <a:lstStyle/>
                    <a:p>
                      <a:pPr indent="0" lvl="0" marL="0" rtl="0" algn="l">
                        <a:spcBef>
                          <a:spcPts val="0"/>
                        </a:spcBef>
                        <a:spcAft>
                          <a:spcPts val="0"/>
                        </a:spcAft>
                        <a:buNone/>
                      </a:pPr>
                      <a:r>
                        <a:rPr lang="es">
                          <a:latin typeface="DM Sans"/>
                          <a:ea typeface="DM Sans"/>
                          <a:cs typeface="DM Sans"/>
                          <a:sym typeface="DM Sans"/>
                        </a:rPr>
                        <a:t>HU-2</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
                          <a:latin typeface="DM Sans"/>
                          <a:ea typeface="DM Sans"/>
                          <a:cs typeface="DM Sans"/>
                          <a:sym typeface="DM Sans"/>
                        </a:rPr>
                        <a:t>Como usuario, quiero registrar productos con nombre, categoría, precio y stock, para tener mi inventario actualizado.</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
                          <a:latin typeface="DM Sans"/>
                          <a:ea typeface="DM Sans"/>
                          <a:cs typeface="DM Sans"/>
                          <a:sym typeface="DM Sans"/>
                        </a:rPr>
                        <a:t>Rol: Usuario. </a:t>
                      </a:r>
                      <a:endParaRPr>
                        <a:latin typeface="DM Sans"/>
                        <a:ea typeface="DM Sans"/>
                        <a:cs typeface="DM Sans"/>
                        <a:sym typeface="DM Sans"/>
                      </a:endParaRPr>
                    </a:p>
                    <a:p>
                      <a:pPr indent="0" lvl="0" marL="0" rtl="0" algn="l">
                        <a:spcBef>
                          <a:spcPts val="0"/>
                        </a:spcBef>
                        <a:spcAft>
                          <a:spcPts val="0"/>
                        </a:spcAft>
                        <a:buNone/>
                      </a:pPr>
                      <a:r>
                        <a:rPr lang="es">
                          <a:latin typeface="DM Sans"/>
                          <a:ea typeface="DM Sans"/>
                          <a:cs typeface="DM Sans"/>
                          <a:sym typeface="DM Sans"/>
                        </a:rPr>
                        <a:t>Característica: Gestionar productos y su stock. Razón: Mantener un inventario actualizado y confiable.</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
                          <a:latin typeface="DM Sans"/>
                          <a:ea typeface="DM Sans"/>
                          <a:cs typeface="DM Sans"/>
                          <a:sym typeface="DM Sans"/>
                        </a:rPr>
                        <a:t>OS-8: Diseñar tabla productos en la BBDD. </a:t>
                      </a:r>
                      <a:endParaRPr>
                        <a:latin typeface="DM Sans"/>
                        <a:ea typeface="DM Sans"/>
                        <a:cs typeface="DM Sans"/>
                        <a:sym typeface="DM Sans"/>
                      </a:endParaRPr>
                    </a:p>
                    <a:p>
                      <a:pPr indent="0" lvl="0" marL="0" rtl="0" algn="l">
                        <a:spcBef>
                          <a:spcPts val="0"/>
                        </a:spcBef>
                        <a:spcAft>
                          <a:spcPts val="0"/>
                        </a:spcAft>
                        <a:buNone/>
                      </a:pPr>
                      <a:r>
                        <a:rPr lang="es">
                          <a:latin typeface="DM Sans"/>
                          <a:ea typeface="DM Sans"/>
                          <a:cs typeface="DM Sans"/>
                          <a:sym typeface="DM Sans"/>
                        </a:rPr>
                        <a:t>OS-9: Crear formulario de productos.</a:t>
                      </a:r>
                      <a:endParaRPr>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17" name="Google Shape;117;p17"/>
          <p:cNvPicPr preferRelativeResize="0"/>
          <p:nvPr/>
        </p:nvPicPr>
        <p:blipFill>
          <a:blip r:embed="rId4">
            <a:alphaModFix/>
          </a:blip>
          <a:stretch>
            <a:fillRect/>
          </a:stretch>
        </p:blipFill>
        <p:spPr>
          <a:xfrm>
            <a:off x="7665900" y="399447"/>
            <a:ext cx="1065950" cy="263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23" name="Google Shape;123;p18"/>
          <p:cNvSpPr txBox="1"/>
          <p:nvPr/>
        </p:nvSpPr>
        <p:spPr>
          <a:xfrm>
            <a:off x="368025" y="399450"/>
            <a:ext cx="7419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Modelo </a:t>
            </a:r>
            <a:r>
              <a:rPr lang="es" sz="3000">
                <a:solidFill>
                  <a:schemeClr val="dk1"/>
                </a:solidFill>
                <a:latin typeface="Bungee"/>
                <a:ea typeface="Bungee"/>
                <a:cs typeface="Bungee"/>
                <a:sym typeface="Bungee"/>
              </a:rPr>
              <a:t>arquitectónico</a:t>
            </a:r>
            <a:r>
              <a:rPr lang="es" sz="3000">
                <a:solidFill>
                  <a:schemeClr val="dk1"/>
                </a:solidFill>
                <a:latin typeface="Bungee"/>
                <a:ea typeface="Bungee"/>
                <a:cs typeface="Bungee"/>
                <a:sym typeface="Bungee"/>
              </a:rPr>
              <a:t> 4+1</a:t>
            </a:r>
            <a:endParaRPr sz="3000">
              <a:solidFill>
                <a:schemeClr val="dk1"/>
              </a:solidFill>
              <a:latin typeface="Bungee"/>
              <a:ea typeface="Bungee"/>
              <a:cs typeface="Bungee"/>
              <a:sym typeface="Bungee"/>
            </a:endParaRPr>
          </a:p>
        </p:txBody>
      </p:sp>
      <p:sp>
        <p:nvSpPr>
          <p:cNvPr id="124" name="Google Shape;124;p18"/>
          <p:cNvSpPr/>
          <p:nvPr/>
        </p:nvSpPr>
        <p:spPr>
          <a:xfrm>
            <a:off x="1606775" y="1045650"/>
            <a:ext cx="6812100" cy="5367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s" sz="1100">
                <a:latin typeface="DM Sans"/>
                <a:ea typeface="DM Sans"/>
                <a:cs typeface="DM Sans"/>
                <a:sym typeface="DM Sans"/>
              </a:rPr>
              <a:t>Vista lógica: </a:t>
            </a:r>
            <a:r>
              <a:rPr lang="es" sz="1100">
                <a:latin typeface="DM Sans"/>
                <a:ea typeface="DM Sans"/>
                <a:cs typeface="DM Sans"/>
                <a:sym typeface="DM Sans"/>
              </a:rPr>
              <a:t>Muestra la lógica de negocio y los componentes funcionales. El diagrama clave es el Diagrama de Secuencia, que detalla el flujo de operaciones (ej. validación de stock).</a:t>
            </a:r>
            <a:endParaRPr sz="1100">
              <a:latin typeface="DM Sans"/>
              <a:ea typeface="DM Sans"/>
              <a:cs typeface="DM Sans"/>
              <a:sym typeface="DM Sans"/>
            </a:endParaRPr>
          </a:p>
        </p:txBody>
      </p:sp>
      <p:sp>
        <p:nvSpPr>
          <p:cNvPr id="125" name="Google Shape;125;p18"/>
          <p:cNvSpPr/>
          <p:nvPr/>
        </p:nvSpPr>
        <p:spPr>
          <a:xfrm>
            <a:off x="1606725" y="1779775"/>
            <a:ext cx="6812100" cy="5367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 sz="1100">
                <a:latin typeface="DM Sans"/>
                <a:ea typeface="DM Sans"/>
                <a:cs typeface="DM Sans"/>
                <a:sym typeface="DM Sans"/>
              </a:rPr>
              <a:t>Vista de despliegue: </a:t>
            </a:r>
            <a:r>
              <a:rPr lang="es" sz="1100">
                <a:latin typeface="DM Sans"/>
                <a:ea typeface="DM Sans"/>
                <a:cs typeface="DM Sans"/>
                <a:sym typeface="DM Sans"/>
              </a:rPr>
              <a:t>Se enfoca en la estructura de los módulos y su organización. Utiliza el diagrama de paquetes para visualizar la separación en capas (Presentación, lógica, datos).</a:t>
            </a:r>
            <a:endParaRPr sz="1100">
              <a:latin typeface="DM Sans"/>
              <a:ea typeface="DM Sans"/>
              <a:cs typeface="DM Sans"/>
              <a:sym typeface="DM Sans"/>
            </a:endParaRPr>
          </a:p>
        </p:txBody>
      </p:sp>
      <p:sp>
        <p:nvSpPr>
          <p:cNvPr id="126" name="Google Shape;126;p18"/>
          <p:cNvSpPr/>
          <p:nvPr/>
        </p:nvSpPr>
        <p:spPr>
          <a:xfrm>
            <a:off x="1606725" y="2544825"/>
            <a:ext cx="6812100" cy="5367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 sz="1100">
                <a:latin typeface="DM Sans"/>
                <a:ea typeface="DM Sans"/>
                <a:cs typeface="DM Sans"/>
                <a:sym typeface="DM Sans"/>
              </a:rPr>
              <a:t>Vista física</a:t>
            </a:r>
            <a:r>
              <a:rPr lang="es" sz="1100">
                <a:latin typeface="DM Sans"/>
                <a:ea typeface="DM Sans"/>
                <a:cs typeface="DM Sans"/>
                <a:sym typeface="DM Sans"/>
              </a:rPr>
              <a:t>: Representa la infraestructura tecnológica real. Se ilustra con el diagrama de Despliegue, que muestra los nodos físicos (Servidor, base de datos y cliente).</a:t>
            </a:r>
            <a:endParaRPr sz="1100">
              <a:latin typeface="DM Sans"/>
              <a:ea typeface="DM Sans"/>
              <a:cs typeface="DM Sans"/>
              <a:sym typeface="DM Sans"/>
            </a:endParaRPr>
          </a:p>
        </p:txBody>
      </p:sp>
      <p:sp>
        <p:nvSpPr>
          <p:cNvPr id="127" name="Google Shape;127;p18"/>
          <p:cNvSpPr/>
          <p:nvPr/>
        </p:nvSpPr>
        <p:spPr>
          <a:xfrm>
            <a:off x="1606725" y="3301675"/>
            <a:ext cx="6812100" cy="5367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 sz="1100">
                <a:latin typeface="DM Sans"/>
                <a:ea typeface="DM Sans"/>
                <a:cs typeface="DM Sans"/>
                <a:sym typeface="DM Sans"/>
              </a:rPr>
              <a:t>Vista de procesos:  </a:t>
            </a:r>
            <a:r>
              <a:rPr lang="es" sz="1100">
                <a:latin typeface="DM Sans"/>
                <a:ea typeface="DM Sans"/>
                <a:cs typeface="DM Sans"/>
                <a:sym typeface="DM Sans"/>
              </a:rPr>
              <a:t>Describe el comportamiento dinámico y el flujo de control. Se utiliza el diagrama de actividades, detallando la secuencia de acciones para procesos como el registro de inventario.</a:t>
            </a:r>
            <a:endParaRPr sz="1100">
              <a:latin typeface="DM Sans"/>
              <a:ea typeface="DM Sans"/>
              <a:cs typeface="DM Sans"/>
              <a:sym typeface="DM Sans"/>
            </a:endParaRPr>
          </a:p>
        </p:txBody>
      </p:sp>
      <p:sp>
        <p:nvSpPr>
          <p:cNvPr id="128" name="Google Shape;128;p18"/>
          <p:cNvSpPr/>
          <p:nvPr/>
        </p:nvSpPr>
        <p:spPr>
          <a:xfrm>
            <a:off x="827431" y="1045650"/>
            <a:ext cx="597000" cy="536700"/>
          </a:xfrm>
          <a:prstGeom prst="ellipse">
            <a:avLst/>
          </a:prstGeom>
          <a:solidFill>
            <a:srgbClr val="27856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Bungee"/>
                <a:ea typeface="Bungee"/>
                <a:cs typeface="Bungee"/>
                <a:sym typeface="Bungee"/>
              </a:rPr>
              <a:t>1</a:t>
            </a:r>
            <a:endParaRPr>
              <a:solidFill>
                <a:schemeClr val="lt1"/>
              </a:solidFill>
              <a:latin typeface="Bungee"/>
              <a:ea typeface="Bungee"/>
              <a:cs typeface="Bungee"/>
              <a:sym typeface="Bungee"/>
            </a:endParaRPr>
          </a:p>
        </p:txBody>
      </p:sp>
      <p:sp>
        <p:nvSpPr>
          <p:cNvPr id="129" name="Google Shape;129;p18"/>
          <p:cNvSpPr/>
          <p:nvPr/>
        </p:nvSpPr>
        <p:spPr>
          <a:xfrm>
            <a:off x="827431" y="1779775"/>
            <a:ext cx="597000" cy="536700"/>
          </a:xfrm>
          <a:prstGeom prst="ellipse">
            <a:avLst/>
          </a:prstGeom>
          <a:solidFill>
            <a:srgbClr val="27856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Bungee"/>
                <a:ea typeface="Bungee"/>
                <a:cs typeface="Bungee"/>
                <a:sym typeface="Bungee"/>
              </a:rPr>
              <a:t>2</a:t>
            </a:r>
            <a:endParaRPr>
              <a:solidFill>
                <a:schemeClr val="lt1"/>
              </a:solidFill>
              <a:latin typeface="Bungee"/>
              <a:ea typeface="Bungee"/>
              <a:cs typeface="Bungee"/>
              <a:sym typeface="Bungee"/>
            </a:endParaRPr>
          </a:p>
        </p:txBody>
      </p:sp>
      <p:sp>
        <p:nvSpPr>
          <p:cNvPr id="130" name="Google Shape;130;p18"/>
          <p:cNvSpPr/>
          <p:nvPr/>
        </p:nvSpPr>
        <p:spPr>
          <a:xfrm>
            <a:off x="827431" y="2544821"/>
            <a:ext cx="597000" cy="536700"/>
          </a:xfrm>
          <a:prstGeom prst="ellipse">
            <a:avLst/>
          </a:prstGeom>
          <a:solidFill>
            <a:srgbClr val="27856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Bungee"/>
                <a:ea typeface="Bungee"/>
                <a:cs typeface="Bungee"/>
                <a:sym typeface="Bungee"/>
              </a:rPr>
              <a:t>3</a:t>
            </a:r>
            <a:endParaRPr>
              <a:solidFill>
                <a:schemeClr val="lt1"/>
              </a:solidFill>
              <a:latin typeface="Bungee"/>
              <a:ea typeface="Bungee"/>
              <a:cs typeface="Bungee"/>
              <a:sym typeface="Bungee"/>
            </a:endParaRPr>
          </a:p>
        </p:txBody>
      </p:sp>
      <p:sp>
        <p:nvSpPr>
          <p:cNvPr id="131" name="Google Shape;131;p18"/>
          <p:cNvSpPr/>
          <p:nvPr/>
        </p:nvSpPr>
        <p:spPr>
          <a:xfrm>
            <a:off x="827431" y="3301675"/>
            <a:ext cx="597000" cy="536700"/>
          </a:xfrm>
          <a:prstGeom prst="ellipse">
            <a:avLst/>
          </a:prstGeom>
          <a:solidFill>
            <a:srgbClr val="27856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Bungee"/>
                <a:ea typeface="Bungee"/>
                <a:cs typeface="Bungee"/>
                <a:sym typeface="Bungee"/>
              </a:rPr>
              <a:t>4</a:t>
            </a:r>
            <a:endParaRPr>
              <a:solidFill>
                <a:schemeClr val="lt1"/>
              </a:solidFill>
              <a:latin typeface="Bungee"/>
              <a:ea typeface="Bungee"/>
              <a:cs typeface="Bungee"/>
              <a:sym typeface="Bungee"/>
            </a:endParaRPr>
          </a:p>
        </p:txBody>
      </p:sp>
      <p:sp>
        <p:nvSpPr>
          <p:cNvPr id="132" name="Google Shape;132;p18"/>
          <p:cNvSpPr/>
          <p:nvPr/>
        </p:nvSpPr>
        <p:spPr>
          <a:xfrm>
            <a:off x="1606725" y="4058525"/>
            <a:ext cx="6812100" cy="5367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 sz="1100">
                <a:latin typeface="DM Sans"/>
                <a:ea typeface="DM Sans"/>
                <a:cs typeface="DM Sans"/>
                <a:sym typeface="DM Sans"/>
              </a:rPr>
              <a:t>Vista de escenarios:</a:t>
            </a:r>
            <a:r>
              <a:rPr lang="es" sz="1100">
                <a:latin typeface="DM Sans"/>
                <a:ea typeface="DM Sans"/>
                <a:cs typeface="DM Sans"/>
                <a:sym typeface="DM Sans"/>
              </a:rPr>
              <a:t> Define cómo el sistema interactúa con los usuarios. Se utiliza el diagrama de casos de uso para definir las funcionalidades y el rol de los actores (Administrador/Trabajador).</a:t>
            </a:r>
            <a:endParaRPr sz="1100">
              <a:latin typeface="DM Sans"/>
              <a:ea typeface="DM Sans"/>
              <a:cs typeface="DM Sans"/>
              <a:sym typeface="DM Sans"/>
            </a:endParaRPr>
          </a:p>
        </p:txBody>
      </p:sp>
      <p:sp>
        <p:nvSpPr>
          <p:cNvPr id="133" name="Google Shape;133;p18"/>
          <p:cNvSpPr/>
          <p:nvPr/>
        </p:nvSpPr>
        <p:spPr>
          <a:xfrm>
            <a:off x="827431" y="4058525"/>
            <a:ext cx="597000" cy="536700"/>
          </a:xfrm>
          <a:prstGeom prst="ellipse">
            <a:avLst/>
          </a:prstGeom>
          <a:solidFill>
            <a:srgbClr val="27856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Bungee"/>
                <a:ea typeface="Bungee"/>
                <a:cs typeface="Bungee"/>
                <a:sym typeface="Bungee"/>
              </a:rPr>
              <a:t>5</a:t>
            </a:r>
            <a:endParaRPr>
              <a:solidFill>
                <a:schemeClr val="lt1"/>
              </a:solidFill>
              <a:latin typeface="Bungee"/>
              <a:ea typeface="Bungee"/>
              <a:cs typeface="Bungee"/>
              <a:sym typeface="Bungee"/>
            </a:endParaRPr>
          </a:p>
        </p:txBody>
      </p:sp>
      <p:pic>
        <p:nvPicPr>
          <p:cNvPr id="134" name="Google Shape;134;p18"/>
          <p:cNvPicPr preferRelativeResize="0"/>
          <p:nvPr/>
        </p:nvPicPr>
        <p:blipFill>
          <a:blip r:embed="rId4">
            <a:alphaModFix/>
          </a:blip>
          <a:stretch>
            <a:fillRect/>
          </a:stretch>
        </p:blipFill>
        <p:spPr>
          <a:xfrm>
            <a:off x="7665900" y="399447"/>
            <a:ext cx="1065950" cy="263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38" name="Shape 138"/>
        <p:cNvGrpSpPr/>
        <p:nvPr/>
      </p:nvGrpSpPr>
      <p:grpSpPr>
        <a:xfrm>
          <a:off x="0" y="0"/>
          <a:ext cx="0" cy="0"/>
          <a:chOff x="0" y="0"/>
          <a:chExt cx="0" cy="0"/>
        </a:xfrm>
      </p:grpSpPr>
      <p:pic>
        <p:nvPicPr>
          <p:cNvPr id="139" name="Google Shape;139;p19"/>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40" name="Google Shape;140;p19"/>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chemeClr val="dk1"/>
                </a:solidFill>
                <a:latin typeface="Bungee"/>
                <a:ea typeface="Bungee"/>
                <a:cs typeface="Bungee"/>
                <a:sym typeface="Bungee"/>
              </a:rPr>
              <a:t>vista lógica - diagrama de clases</a:t>
            </a:r>
            <a:endParaRPr sz="2500">
              <a:solidFill>
                <a:schemeClr val="dk1"/>
              </a:solidFill>
              <a:latin typeface="Bungee"/>
              <a:ea typeface="Bungee"/>
              <a:cs typeface="Bungee"/>
              <a:sym typeface="Bungee"/>
            </a:endParaRPr>
          </a:p>
        </p:txBody>
      </p:sp>
      <p:pic>
        <p:nvPicPr>
          <p:cNvPr id="141" name="Google Shape;141;p19"/>
          <p:cNvPicPr preferRelativeResize="0"/>
          <p:nvPr/>
        </p:nvPicPr>
        <p:blipFill>
          <a:blip r:embed="rId4">
            <a:alphaModFix/>
          </a:blip>
          <a:stretch>
            <a:fillRect/>
          </a:stretch>
        </p:blipFill>
        <p:spPr>
          <a:xfrm>
            <a:off x="2845500" y="1180400"/>
            <a:ext cx="5762900" cy="3312299"/>
          </a:xfrm>
          <a:prstGeom prst="rect">
            <a:avLst/>
          </a:prstGeom>
          <a:noFill/>
          <a:ln cap="flat" cmpd="sng" w="19050">
            <a:solidFill>
              <a:schemeClr val="dk1"/>
            </a:solidFill>
            <a:prstDash val="solid"/>
            <a:round/>
            <a:headEnd len="sm" w="sm" type="none"/>
            <a:tailEnd len="sm" w="sm" type="none"/>
          </a:ln>
        </p:spPr>
      </p:pic>
      <p:sp>
        <p:nvSpPr>
          <p:cNvPr id="142" name="Google Shape;142;p19"/>
          <p:cNvSpPr txBox="1"/>
          <p:nvPr/>
        </p:nvSpPr>
        <p:spPr>
          <a:xfrm>
            <a:off x="435350" y="1624700"/>
            <a:ext cx="2275500" cy="24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Define la estructura estática de la lógica de negocio. Muestra las entidades principales (Producto, Usuario, Movimiento) con sus atributos y métodos, y cómo se relacionan (ej. una Categoría tiene muchos Productos).</a:t>
            </a:r>
            <a:endParaRPr sz="1500">
              <a:solidFill>
                <a:schemeClr val="dk1"/>
              </a:solidFill>
              <a:latin typeface="DM Sans"/>
              <a:ea typeface="DM Sans"/>
              <a:cs typeface="DM Sans"/>
              <a:sym typeface="DM Sans"/>
            </a:endParaRPr>
          </a:p>
        </p:txBody>
      </p:sp>
      <p:pic>
        <p:nvPicPr>
          <p:cNvPr id="143" name="Google Shape;143;p19"/>
          <p:cNvPicPr preferRelativeResize="0"/>
          <p:nvPr/>
        </p:nvPicPr>
        <p:blipFill>
          <a:blip r:embed="rId5">
            <a:alphaModFix/>
          </a:blip>
          <a:stretch>
            <a:fillRect/>
          </a:stretch>
        </p:blipFill>
        <p:spPr>
          <a:xfrm>
            <a:off x="7665900" y="399447"/>
            <a:ext cx="1065950" cy="263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47" name="Shape 147"/>
        <p:cNvGrpSpPr/>
        <p:nvPr/>
      </p:nvGrpSpPr>
      <p:grpSpPr>
        <a:xfrm>
          <a:off x="0" y="0"/>
          <a:ext cx="0" cy="0"/>
          <a:chOff x="0" y="0"/>
          <a:chExt cx="0" cy="0"/>
        </a:xfrm>
      </p:grpSpPr>
      <p:pic>
        <p:nvPicPr>
          <p:cNvPr id="148" name="Google Shape;148;p20"/>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49" name="Google Shape;149;p20"/>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chemeClr val="dk1"/>
                </a:solidFill>
                <a:latin typeface="Bungee"/>
                <a:ea typeface="Bungee"/>
                <a:cs typeface="Bungee"/>
                <a:sym typeface="Bungee"/>
              </a:rPr>
              <a:t>vista lógica - diagrama de </a:t>
            </a:r>
            <a:r>
              <a:rPr lang="es" sz="2500">
                <a:solidFill>
                  <a:schemeClr val="dk1"/>
                </a:solidFill>
                <a:latin typeface="Bungee"/>
                <a:ea typeface="Bungee"/>
                <a:cs typeface="Bungee"/>
                <a:sym typeface="Bungee"/>
              </a:rPr>
              <a:t>comunicación</a:t>
            </a:r>
            <a:endParaRPr sz="2500">
              <a:solidFill>
                <a:schemeClr val="dk1"/>
              </a:solidFill>
              <a:latin typeface="Bungee"/>
              <a:ea typeface="Bungee"/>
              <a:cs typeface="Bungee"/>
              <a:sym typeface="Bungee"/>
            </a:endParaRPr>
          </a:p>
        </p:txBody>
      </p:sp>
      <p:pic>
        <p:nvPicPr>
          <p:cNvPr id="150" name="Google Shape;150;p20"/>
          <p:cNvPicPr preferRelativeResize="0"/>
          <p:nvPr/>
        </p:nvPicPr>
        <p:blipFill>
          <a:blip r:embed="rId4">
            <a:alphaModFix/>
          </a:blip>
          <a:stretch>
            <a:fillRect/>
          </a:stretch>
        </p:blipFill>
        <p:spPr>
          <a:xfrm>
            <a:off x="2845500" y="1166935"/>
            <a:ext cx="5762899" cy="3312300"/>
          </a:xfrm>
          <a:prstGeom prst="rect">
            <a:avLst/>
          </a:prstGeom>
          <a:noFill/>
          <a:ln cap="flat" cmpd="sng" w="19050">
            <a:solidFill>
              <a:schemeClr val="dk1"/>
            </a:solidFill>
            <a:prstDash val="solid"/>
            <a:round/>
            <a:headEnd len="sm" w="sm" type="none"/>
            <a:tailEnd len="sm" w="sm" type="none"/>
          </a:ln>
        </p:spPr>
      </p:pic>
      <p:sp>
        <p:nvSpPr>
          <p:cNvPr id="151" name="Google Shape;151;p20"/>
          <p:cNvSpPr txBox="1"/>
          <p:nvPr/>
        </p:nvSpPr>
        <p:spPr>
          <a:xfrm>
            <a:off x="435350" y="1624700"/>
            <a:ext cx="2275500" cy="26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Ilustra la interacción entre objetos durante una operación. Muestra qué objetos intercambian mensajes para un proceso específico, como la búsqueda de un producto antes de registrar un movimiento.</a:t>
            </a:r>
            <a:endParaRPr sz="1500">
              <a:solidFill>
                <a:schemeClr val="dk1"/>
              </a:solidFill>
              <a:latin typeface="DM Sans"/>
              <a:ea typeface="DM Sans"/>
              <a:cs typeface="DM Sans"/>
              <a:sym typeface="DM Sans"/>
            </a:endParaRPr>
          </a:p>
        </p:txBody>
      </p:sp>
      <p:pic>
        <p:nvPicPr>
          <p:cNvPr id="152" name="Google Shape;152;p20"/>
          <p:cNvPicPr preferRelativeResize="0"/>
          <p:nvPr/>
        </p:nvPicPr>
        <p:blipFill>
          <a:blip r:embed="rId5">
            <a:alphaModFix/>
          </a:blip>
          <a:stretch>
            <a:fillRect/>
          </a:stretch>
        </p:blipFill>
        <p:spPr>
          <a:xfrm>
            <a:off x="2845500" y="1166925"/>
            <a:ext cx="5762901" cy="3312300"/>
          </a:xfrm>
          <a:prstGeom prst="rect">
            <a:avLst/>
          </a:prstGeom>
          <a:noFill/>
          <a:ln cap="flat" cmpd="sng" w="19050">
            <a:solidFill>
              <a:schemeClr val="dk1"/>
            </a:solidFill>
            <a:prstDash val="solid"/>
            <a:round/>
            <a:headEnd len="sm" w="sm" type="none"/>
            <a:tailEnd len="sm" w="sm" type="none"/>
          </a:ln>
        </p:spPr>
      </p:pic>
      <p:pic>
        <p:nvPicPr>
          <p:cNvPr id="153" name="Google Shape;153;p20"/>
          <p:cNvPicPr preferRelativeResize="0"/>
          <p:nvPr/>
        </p:nvPicPr>
        <p:blipFill>
          <a:blip r:embed="rId6">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57" name="Shape 157"/>
        <p:cNvGrpSpPr/>
        <p:nvPr/>
      </p:nvGrpSpPr>
      <p:grpSpPr>
        <a:xfrm>
          <a:off x="0" y="0"/>
          <a:ext cx="0" cy="0"/>
          <a:chOff x="0" y="0"/>
          <a:chExt cx="0" cy="0"/>
        </a:xfrm>
      </p:grpSpPr>
      <p:pic>
        <p:nvPicPr>
          <p:cNvPr id="158" name="Google Shape;158;p21"/>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59" name="Google Shape;159;p21"/>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chemeClr val="dk1"/>
                </a:solidFill>
                <a:latin typeface="Bungee"/>
                <a:ea typeface="Bungee"/>
                <a:cs typeface="Bungee"/>
                <a:sym typeface="Bungee"/>
              </a:rPr>
              <a:t>vista lógica - diagrama de secuencia</a:t>
            </a:r>
            <a:endParaRPr sz="2500">
              <a:solidFill>
                <a:schemeClr val="dk1"/>
              </a:solidFill>
              <a:latin typeface="Bungee"/>
              <a:ea typeface="Bungee"/>
              <a:cs typeface="Bungee"/>
              <a:sym typeface="Bungee"/>
            </a:endParaRPr>
          </a:p>
        </p:txBody>
      </p:sp>
      <p:pic>
        <p:nvPicPr>
          <p:cNvPr id="160" name="Google Shape;160;p21"/>
          <p:cNvPicPr preferRelativeResize="0"/>
          <p:nvPr/>
        </p:nvPicPr>
        <p:blipFill>
          <a:blip r:embed="rId4">
            <a:alphaModFix/>
          </a:blip>
          <a:stretch>
            <a:fillRect/>
          </a:stretch>
        </p:blipFill>
        <p:spPr>
          <a:xfrm>
            <a:off x="4595850" y="1166925"/>
            <a:ext cx="4016951" cy="3312301"/>
          </a:xfrm>
          <a:prstGeom prst="rect">
            <a:avLst/>
          </a:prstGeom>
          <a:noFill/>
          <a:ln cap="flat" cmpd="sng" w="19050">
            <a:solidFill>
              <a:schemeClr val="dk1"/>
            </a:solidFill>
            <a:prstDash val="solid"/>
            <a:round/>
            <a:headEnd len="sm" w="sm" type="none"/>
            <a:tailEnd len="sm" w="sm" type="none"/>
          </a:ln>
        </p:spPr>
      </p:pic>
      <p:sp>
        <p:nvSpPr>
          <p:cNvPr id="161" name="Google Shape;161;p21"/>
          <p:cNvSpPr txBox="1"/>
          <p:nvPr/>
        </p:nvSpPr>
        <p:spPr>
          <a:xfrm>
            <a:off x="435350" y="1624700"/>
            <a:ext cx="4017000" cy="26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Detalla el orden cronológico de las llamadas entre objetos para procesos críticos. Por ejemplo, se utiliza para mostrar paso a paso la validación de stock antes de permitir el registro de una salida de producto.</a:t>
            </a:r>
            <a:endParaRPr sz="1500">
              <a:solidFill>
                <a:schemeClr val="dk1"/>
              </a:solidFill>
              <a:latin typeface="DM Sans"/>
              <a:ea typeface="DM Sans"/>
              <a:cs typeface="DM Sans"/>
              <a:sym typeface="DM Sans"/>
            </a:endParaRPr>
          </a:p>
        </p:txBody>
      </p:sp>
      <p:pic>
        <p:nvPicPr>
          <p:cNvPr id="162" name="Google Shape;162;p21"/>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66" name="Shape 166"/>
        <p:cNvGrpSpPr/>
        <p:nvPr/>
      </p:nvGrpSpPr>
      <p:grpSpPr>
        <a:xfrm>
          <a:off x="0" y="0"/>
          <a:ext cx="0" cy="0"/>
          <a:chOff x="0" y="0"/>
          <a:chExt cx="0" cy="0"/>
        </a:xfrm>
      </p:grpSpPr>
      <p:pic>
        <p:nvPicPr>
          <p:cNvPr id="167" name="Google Shape;167;p22"/>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68" name="Google Shape;168;p22"/>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1"/>
                </a:solidFill>
                <a:latin typeface="Bungee"/>
                <a:ea typeface="Bungee"/>
                <a:cs typeface="Bungee"/>
                <a:sym typeface="Bungee"/>
              </a:rPr>
              <a:t>vista de despliegue - diagrama de componentes</a:t>
            </a:r>
            <a:endParaRPr sz="2100">
              <a:solidFill>
                <a:schemeClr val="dk1"/>
              </a:solidFill>
              <a:latin typeface="Bungee"/>
              <a:ea typeface="Bungee"/>
              <a:cs typeface="Bungee"/>
              <a:sym typeface="Bungee"/>
            </a:endParaRPr>
          </a:p>
        </p:txBody>
      </p:sp>
      <p:pic>
        <p:nvPicPr>
          <p:cNvPr id="169" name="Google Shape;169;p22"/>
          <p:cNvPicPr preferRelativeResize="0"/>
          <p:nvPr/>
        </p:nvPicPr>
        <p:blipFill>
          <a:blip r:embed="rId4">
            <a:alphaModFix/>
          </a:blip>
          <a:stretch>
            <a:fillRect/>
          </a:stretch>
        </p:blipFill>
        <p:spPr>
          <a:xfrm>
            <a:off x="2845500" y="1166925"/>
            <a:ext cx="5762901" cy="3083424"/>
          </a:xfrm>
          <a:prstGeom prst="rect">
            <a:avLst/>
          </a:prstGeom>
          <a:noFill/>
          <a:ln cap="flat" cmpd="sng" w="19050">
            <a:solidFill>
              <a:schemeClr val="dk1"/>
            </a:solidFill>
            <a:prstDash val="solid"/>
            <a:round/>
            <a:headEnd len="sm" w="sm" type="none"/>
            <a:tailEnd len="sm" w="sm" type="none"/>
          </a:ln>
        </p:spPr>
      </p:pic>
      <p:sp>
        <p:nvSpPr>
          <p:cNvPr id="170" name="Google Shape;170;p22"/>
          <p:cNvSpPr txBox="1"/>
          <p:nvPr/>
        </p:nvSpPr>
        <p:spPr>
          <a:xfrm>
            <a:off x="435350" y="1624700"/>
            <a:ext cx="2275500" cy="26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Muestra las piezas de software (módulos como inventario o autenticación) y sus dependencias e interfaces, ilustrando la arquitectura interna del sistema.</a:t>
            </a:r>
            <a:endParaRPr sz="1500">
              <a:solidFill>
                <a:schemeClr val="dk1"/>
              </a:solidFill>
              <a:latin typeface="DM Sans"/>
              <a:ea typeface="DM Sans"/>
              <a:cs typeface="DM Sans"/>
              <a:sym typeface="DM Sans"/>
            </a:endParaRPr>
          </a:p>
        </p:txBody>
      </p:sp>
      <p:pic>
        <p:nvPicPr>
          <p:cNvPr id="171" name="Google Shape;171;p22"/>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75" name="Shape 175"/>
        <p:cNvGrpSpPr/>
        <p:nvPr/>
      </p:nvGrpSpPr>
      <p:grpSpPr>
        <a:xfrm>
          <a:off x="0" y="0"/>
          <a:ext cx="0" cy="0"/>
          <a:chOff x="0" y="0"/>
          <a:chExt cx="0" cy="0"/>
        </a:xfrm>
      </p:grpSpPr>
      <p:pic>
        <p:nvPicPr>
          <p:cNvPr id="176" name="Google Shape;176;p23"/>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77" name="Google Shape;177;p23"/>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1"/>
                </a:solidFill>
                <a:latin typeface="Bungee"/>
                <a:ea typeface="Bungee"/>
                <a:cs typeface="Bungee"/>
                <a:sym typeface="Bungee"/>
              </a:rPr>
              <a:t>vista de despliegue - diagrama de paquetes</a:t>
            </a:r>
            <a:endParaRPr sz="2100">
              <a:solidFill>
                <a:schemeClr val="dk1"/>
              </a:solidFill>
              <a:latin typeface="Bungee"/>
              <a:ea typeface="Bungee"/>
              <a:cs typeface="Bungee"/>
              <a:sym typeface="Bungee"/>
            </a:endParaRPr>
          </a:p>
        </p:txBody>
      </p:sp>
      <p:pic>
        <p:nvPicPr>
          <p:cNvPr id="178" name="Google Shape;178;p23"/>
          <p:cNvPicPr preferRelativeResize="0"/>
          <p:nvPr/>
        </p:nvPicPr>
        <p:blipFill>
          <a:blip r:embed="rId4">
            <a:alphaModFix/>
          </a:blip>
          <a:stretch>
            <a:fillRect/>
          </a:stretch>
        </p:blipFill>
        <p:spPr>
          <a:xfrm>
            <a:off x="2845500" y="1166925"/>
            <a:ext cx="5762899" cy="3312300"/>
          </a:xfrm>
          <a:prstGeom prst="rect">
            <a:avLst/>
          </a:prstGeom>
          <a:noFill/>
          <a:ln cap="flat" cmpd="sng" w="19050">
            <a:solidFill>
              <a:schemeClr val="dk1"/>
            </a:solidFill>
            <a:prstDash val="solid"/>
            <a:round/>
            <a:headEnd len="sm" w="sm" type="none"/>
            <a:tailEnd len="sm" w="sm" type="none"/>
          </a:ln>
        </p:spPr>
      </p:pic>
      <p:sp>
        <p:nvSpPr>
          <p:cNvPr id="179" name="Google Shape;179;p23"/>
          <p:cNvSpPr txBox="1"/>
          <p:nvPr/>
        </p:nvSpPr>
        <p:spPr>
          <a:xfrm>
            <a:off x="435350" y="1624700"/>
            <a:ext cx="2275500" cy="26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Organiza los módulos y componentes en capas lógicas (Presentación, lógica de negocio y datos). Esto define la separación de responsabilidades para asegurar la mantenibilidad y escalabilidad del código.</a:t>
            </a:r>
            <a:endParaRPr sz="1500">
              <a:solidFill>
                <a:schemeClr val="dk1"/>
              </a:solidFill>
              <a:latin typeface="DM Sans"/>
              <a:ea typeface="DM Sans"/>
              <a:cs typeface="DM Sans"/>
              <a:sym typeface="DM Sans"/>
            </a:endParaRPr>
          </a:p>
        </p:txBody>
      </p:sp>
      <p:pic>
        <p:nvPicPr>
          <p:cNvPr id="180" name="Google Shape;180;p23"/>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84" name="Shape 184"/>
        <p:cNvGrpSpPr/>
        <p:nvPr/>
      </p:nvGrpSpPr>
      <p:grpSpPr>
        <a:xfrm>
          <a:off x="0" y="0"/>
          <a:ext cx="0" cy="0"/>
          <a:chOff x="0" y="0"/>
          <a:chExt cx="0" cy="0"/>
        </a:xfrm>
      </p:grpSpPr>
      <p:pic>
        <p:nvPicPr>
          <p:cNvPr id="185" name="Google Shape;185;p24"/>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86" name="Google Shape;186;p24"/>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1"/>
                </a:solidFill>
                <a:latin typeface="Bungee"/>
                <a:ea typeface="Bungee"/>
                <a:cs typeface="Bungee"/>
                <a:sym typeface="Bungee"/>
              </a:rPr>
              <a:t>vista física - diagrama de despliegue</a:t>
            </a:r>
            <a:endParaRPr sz="2100">
              <a:solidFill>
                <a:schemeClr val="dk1"/>
              </a:solidFill>
              <a:latin typeface="Bungee"/>
              <a:ea typeface="Bungee"/>
              <a:cs typeface="Bungee"/>
              <a:sym typeface="Bungee"/>
            </a:endParaRPr>
          </a:p>
        </p:txBody>
      </p:sp>
      <p:pic>
        <p:nvPicPr>
          <p:cNvPr id="187" name="Google Shape;187;p24"/>
          <p:cNvPicPr preferRelativeResize="0"/>
          <p:nvPr/>
        </p:nvPicPr>
        <p:blipFill>
          <a:blip r:embed="rId4">
            <a:alphaModFix/>
          </a:blip>
          <a:stretch>
            <a:fillRect/>
          </a:stretch>
        </p:blipFill>
        <p:spPr>
          <a:xfrm>
            <a:off x="3621975" y="954987"/>
            <a:ext cx="4986426" cy="3736176"/>
          </a:xfrm>
          <a:prstGeom prst="rect">
            <a:avLst/>
          </a:prstGeom>
          <a:noFill/>
          <a:ln cap="flat" cmpd="sng" w="19050">
            <a:solidFill>
              <a:schemeClr val="dk1"/>
            </a:solidFill>
            <a:prstDash val="solid"/>
            <a:round/>
            <a:headEnd len="sm" w="sm" type="none"/>
            <a:tailEnd len="sm" w="sm" type="none"/>
          </a:ln>
        </p:spPr>
      </p:pic>
      <p:sp>
        <p:nvSpPr>
          <p:cNvPr id="188" name="Google Shape;188;p24"/>
          <p:cNvSpPr txBox="1"/>
          <p:nvPr/>
        </p:nvSpPr>
        <p:spPr>
          <a:xfrm>
            <a:off x="435350" y="1624700"/>
            <a:ext cx="3002700" cy="26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Representa la topología del hardware. Muestra los nodos físicos (ej. Servidor web, DB, dispositivo móvil del cliente) y cómo los componentes del software se instalan y se conectan en el entorno real de ejecución.</a:t>
            </a:r>
            <a:endParaRPr sz="1500">
              <a:solidFill>
                <a:schemeClr val="dk1"/>
              </a:solidFill>
              <a:latin typeface="DM Sans"/>
              <a:ea typeface="DM Sans"/>
              <a:cs typeface="DM Sans"/>
              <a:sym typeface="DM Sans"/>
            </a:endParaRPr>
          </a:p>
        </p:txBody>
      </p:sp>
      <p:pic>
        <p:nvPicPr>
          <p:cNvPr id="189" name="Google Shape;189;p24"/>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193" name="Shape 193"/>
        <p:cNvGrpSpPr/>
        <p:nvPr/>
      </p:nvGrpSpPr>
      <p:grpSpPr>
        <a:xfrm>
          <a:off x="0" y="0"/>
          <a:ext cx="0" cy="0"/>
          <a:chOff x="0" y="0"/>
          <a:chExt cx="0" cy="0"/>
        </a:xfrm>
      </p:grpSpPr>
      <p:pic>
        <p:nvPicPr>
          <p:cNvPr id="194" name="Google Shape;194;p25"/>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195" name="Google Shape;195;p25"/>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1"/>
                </a:solidFill>
                <a:latin typeface="Bungee"/>
                <a:ea typeface="Bungee"/>
                <a:cs typeface="Bungee"/>
                <a:sym typeface="Bungee"/>
              </a:rPr>
              <a:t>vista de procesos - diagrama de actividades</a:t>
            </a:r>
            <a:endParaRPr sz="2100">
              <a:solidFill>
                <a:schemeClr val="dk1"/>
              </a:solidFill>
              <a:latin typeface="Bungee"/>
              <a:ea typeface="Bungee"/>
              <a:cs typeface="Bungee"/>
              <a:sym typeface="Bungee"/>
            </a:endParaRPr>
          </a:p>
        </p:txBody>
      </p:sp>
      <p:pic>
        <p:nvPicPr>
          <p:cNvPr id="196" name="Google Shape;196;p25"/>
          <p:cNvPicPr preferRelativeResize="0"/>
          <p:nvPr/>
        </p:nvPicPr>
        <p:blipFill>
          <a:blip r:embed="rId4">
            <a:alphaModFix/>
          </a:blip>
          <a:stretch>
            <a:fillRect/>
          </a:stretch>
        </p:blipFill>
        <p:spPr>
          <a:xfrm>
            <a:off x="3621975" y="954975"/>
            <a:ext cx="4986425" cy="3736201"/>
          </a:xfrm>
          <a:prstGeom prst="rect">
            <a:avLst/>
          </a:prstGeom>
          <a:noFill/>
          <a:ln cap="flat" cmpd="sng" w="19050">
            <a:solidFill>
              <a:schemeClr val="dk1"/>
            </a:solidFill>
            <a:prstDash val="solid"/>
            <a:round/>
            <a:headEnd len="sm" w="sm" type="none"/>
            <a:tailEnd len="sm" w="sm" type="none"/>
          </a:ln>
        </p:spPr>
      </p:pic>
      <p:sp>
        <p:nvSpPr>
          <p:cNvPr id="197" name="Google Shape;197;p25"/>
          <p:cNvSpPr txBox="1"/>
          <p:nvPr/>
        </p:nvSpPr>
        <p:spPr>
          <a:xfrm>
            <a:off x="435350" y="1624700"/>
            <a:ext cx="3002700" cy="26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Muestra el flujo de control dinámico de una operación, similar a un flowchart. Detalla la secuencia de acciones, bifurcaciones y los puntos de decisión (ej. ¿Hay suficiente stock?) en un proceso completo de gestión de inventario.</a:t>
            </a:r>
            <a:endParaRPr sz="1500">
              <a:solidFill>
                <a:schemeClr val="dk1"/>
              </a:solidFill>
              <a:latin typeface="DM Sans"/>
              <a:ea typeface="DM Sans"/>
              <a:cs typeface="DM Sans"/>
              <a:sym typeface="DM Sans"/>
            </a:endParaRPr>
          </a:p>
        </p:txBody>
      </p:sp>
      <p:pic>
        <p:nvPicPr>
          <p:cNvPr id="198" name="Google Shape;198;p25"/>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202" name="Shape 202"/>
        <p:cNvGrpSpPr/>
        <p:nvPr/>
      </p:nvGrpSpPr>
      <p:grpSpPr>
        <a:xfrm>
          <a:off x="0" y="0"/>
          <a:ext cx="0" cy="0"/>
          <a:chOff x="0" y="0"/>
          <a:chExt cx="0" cy="0"/>
        </a:xfrm>
      </p:grpSpPr>
      <p:pic>
        <p:nvPicPr>
          <p:cNvPr id="203" name="Google Shape;203;p26"/>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204" name="Google Shape;204;p26"/>
          <p:cNvSpPr txBox="1"/>
          <p:nvPr/>
        </p:nvSpPr>
        <p:spPr>
          <a:xfrm>
            <a:off x="368025" y="399450"/>
            <a:ext cx="7998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1"/>
                </a:solidFill>
                <a:latin typeface="Bungee"/>
                <a:ea typeface="Bungee"/>
                <a:cs typeface="Bungee"/>
                <a:sym typeface="Bungee"/>
              </a:rPr>
              <a:t>vista de escenarios - diagrama de caso de uso</a:t>
            </a:r>
            <a:endParaRPr sz="2100">
              <a:solidFill>
                <a:schemeClr val="dk1"/>
              </a:solidFill>
              <a:latin typeface="Bungee"/>
              <a:ea typeface="Bungee"/>
              <a:cs typeface="Bungee"/>
              <a:sym typeface="Bungee"/>
            </a:endParaRPr>
          </a:p>
        </p:txBody>
      </p:sp>
      <p:pic>
        <p:nvPicPr>
          <p:cNvPr id="205" name="Google Shape;205;p26"/>
          <p:cNvPicPr preferRelativeResize="0"/>
          <p:nvPr/>
        </p:nvPicPr>
        <p:blipFill>
          <a:blip r:embed="rId4">
            <a:alphaModFix/>
          </a:blip>
          <a:stretch>
            <a:fillRect/>
          </a:stretch>
        </p:blipFill>
        <p:spPr>
          <a:xfrm>
            <a:off x="3621975" y="954975"/>
            <a:ext cx="4986424" cy="3736201"/>
          </a:xfrm>
          <a:prstGeom prst="rect">
            <a:avLst/>
          </a:prstGeom>
          <a:noFill/>
          <a:ln cap="flat" cmpd="sng" w="19050">
            <a:solidFill>
              <a:schemeClr val="dk1"/>
            </a:solidFill>
            <a:prstDash val="solid"/>
            <a:round/>
            <a:headEnd len="sm" w="sm" type="none"/>
            <a:tailEnd len="sm" w="sm" type="none"/>
          </a:ln>
        </p:spPr>
      </p:pic>
      <p:sp>
        <p:nvSpPr>
          <p:cNvPr id="206" name="Google Shape;206;p26"/>
          <p:cNvSpPr txBox="1"/>
          <p:nvPr/>
        </p:nvSpPr>
        <p:spPr>
          <a:xfrm>
            <a:off x="435350" y="1624700"/>
            <a:ext cx="3002700" cy="26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DM Sans"/>
                <a:ea typeface="DM Sans"/>
                <a:cs typeface="DM Sans"/>
                <a:sym typeface="DM Sans"/>
              </a:rPr>
              <a:t>Define las fronteras del sistema y las funcionalidades clave desde la perspectiva del usuario. Muestra las interacciones entre los actores (Administrador y trabajador) y el sistema (ej. el caso de uso "Leer código" está incluido en "Registrar movimientos").</a:t>
            </a:r>
            <a:endParaRPr sz="1500">
              <a:solidFill>
                <a:schemeClr val="dk1"/>
              </a:solidFill>
              <a:latin typeface="DM Sans"/>
              <a:ea typeface="DM Sans"/>
              <a:cs typeface="DM Sans"/>
              <a:sym typeface="DM Sans"/>
            </a:endParaRPr>
          </a:p>
        </p:txBody>
      </p:sp>
      <p:pic>
        <p:nvPicPr>
          <p:cNvPr id="207" name="Google Shape;207;p26"/>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211" name="Shape 211"/>
        <p:cNvGrpSpPr/>
        <p:nvPr/>
      </p:nvGrpSpPr>
      <p:grpSpPr>
        <a:xfrm>
          <a:off x="0" y="0"/>
          <a:ext cx="0" cy="0"/>
          <a:chOff x="0" y="0"/>
          <a:chExt cx="0" cy="0"/>
        </a:xfrm>
      </p:grpSpPr>
      <p:pic>
        <p:nvPicPr>
          <p:cNvPr id="212" name="Google Shape;212;p27"/>
          <p:cNvPicPr preferRelativeResize="0"/>
          <p:nvPr/>
        </p:nvPicPr>
        <p:blipFill>
          <a:blip r:embed="rId3">
            <a:alphaModFix/>
          </a:blip>
          <a:stretch>
            <a:fillRect/>
          </a:stretch>
        </p:blipFill>
        <p:spPr>
          <a:xfrm>
            <a:off x="233263" y="70240"/>
            <a:ext cx="8677463" cy="4838703"/>
          </a:xfrm>
          <a:prstGeom prst="rect">
            <a:avLst/>
          </a:prstGeom>
          <a:noFill/>
          <a:ln>
            <a:noFill/>
          </a:ln>
        </p:spPr>
      </p:pic>
      <p:sp>
        <p:nvSpPr>
          <p:cNvPr id="213" name="Google Shape;213;p27"/>
          <p:cNvSpPr txBox="1"/>
          <p:nvPr/>
        </p:nvSpPr>
        <p:spPr>
          <a:xfrm>
            <a:off x="368025" y="399450"/>
            <a:ext cx="7446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avance funcional del sistema</a:t>
            </a:r>
            <a:endParaRPr sz="3000">
              <a:solidFill>
                <a:schemeClr val="dk1"/>
              </a:solidFill>
              <a:latin typeface="Bungee"/>
              <a:ea typeface="Bungee"/>
              <a:cs typeface="Bungee"/>
              <a:sym typeface="Bungee"/>
            </a:endParaRPr>
          </a:p>
        </p:txBody>
      </p:sp>
      <p:pic>
        <p:nvPicPr>
          <p:cNvPr id="214" name="Google Shape;214;p27"/>
          <p:cNvPicPr preferRelativeResize="0"/>
          <p:nvPr/>
        </p:nvPicPr>
        <p:blipFill rotWithShape="1">
          <a:blip r:embed="rId4">
            <a:alphaModFix/>
          </a:blip>
          <a:srcRect b="0" l="2160" r="2655" t="0"/>
          <a:stretch/>
        </p:blipFill>
        <p:spPr>
          <a:xfrm>
            <a:off x="2845500" y="1166925"/>
            <a:ext cx="5762899" cy="3083425"/>
          </a:xfrm>
          <a:prstGeom prst="rect">
            <a:avLst/>
          </a:prstGeom>
          <a:noFill/>
          <a:ln cap="flat" cmpd="sng" w="19050">
            <a:solidFill>
              <a:srgbClr val="000000"/>
            </a:solidFill>
            <a:prstDash val="solid"/>
            <a:miter lim="8000"/>
            <a:headEnd len="sm" w="sm" type="none"/>
            <a:tailEnd len="sm" w="sm" type="none"/>
          </a:ln>
        </p:spPr>
      </p:pic>
      <p:sp>
        <p:nvSpPr>
          <p:cNvPr id="215" name="Google Shape;215;p27"/>
          <p:cNvSpPr txBox="1"/>
          <p:nvPr/>
        </p:nvSpPr>
        <p:spPr>
          <a:xfrm>
            <a:off x="448825" y="1166925"/>
            <a:ext cx="2275500" cy="12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DM Sans"/>
                <a:ea typeface="DM Sans"/>
                <a:cs typeface="DM Sans"/>
                <a:sym typeface="DM Sans"/>
              </a:rPr>
              <a:t>Mediante estas interfaces confirmamos que el sistema funciona y está conectado a la base de datos.</a:t>
            </a:r>
            <a:endParaRPr>
              <a:solidFill>
                <a:schemeClr val="dk1"/>
              </a:solidFill>
              <a:latin typeface="DM Sans"/>
              <a:ea typeface="DM Sans"/>
              <a:cs typeface="DM Sans"/>
              <a:sym typeface="DM Sans"/>
            </a:endParaRPr>
          </a:p>
        </p:txBody>
      </p:sp>
      <p:sp>
        <p:nvSpPr>
          <p:cNvPr id="216" name="Google Shape;216;p27"/>
          <p:cNvSpPr txBox="1"/>
          <p:nvPr/>
        </p:nvSpPr>
        <p:spPr>
          <a:xfrm>
            <a:off x="448825" y="2419125"/>
            <a:ext cx="2275500" cy="1252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DM Sans"/>
              <a:buAutoNum type="arabicPeriod"/>
            </a:pPr>
            <a:r>
              <a:rPr b="1" lang="es">
                <a:solidFill>
                  <a:schemeClr val="dk1"/>
                </a:solidFill>
                <a:latin typeface="DM Sans"/>
                <a:ea typeface="DM Sans"/>
                <a:cs typeface="DM Sans"/>
                <a:sym typeface="DM Sans"/>
              </a:rPr>
              <a:t>Vista - Login</a:t>
            </a:r>
            <a:endParaRPr b="1">
              <a:solidFill>
                <a:schemeClr val="dk1"/>
              </a:solidFill>
              <a:latin typeface="DM Sans"/>
              <a:ea typeface="DM Sans"/>
              <a:cs typeface="DM Sans"/>
              <a:sym typeface="DM Sans"/>
            </a:endParaRPr>
          </a:p>
          <a:p>
            <a:pPr indent="0" lvl="0" marL="0" rtl="0" algn="l">
              <a:spcBef>
                <a:spcPts val="0"/>
              </a:spcBef>
              <a:spcAft>
                <a:spcPts val="0"/>
              </a:spcAft>
              <a:buNone/>
            </a:pPr>
            <a:r>
              <a:rPr lang="es">
                <a:solidFill>
                  <a:schemeClr val="dk1"/>
                </a:solidFill>
                <a:latin typeface="DM Sans"/>
                <a:ea typeface="DM Sans"/>
                <a:cs typeface="DM Sans"/>
                <a:sym typeface="DM Sans"/>
              </a:rPr>
              <a:t>La vista de Login es segura y responsiva. Permitirá el registro de nuevos locatarios para segmentar usuarios y mejorar la gestión de roles y permisos.</a:t>
            </a:r>
            <a:endParaRPr>
              <a:solidFill>
                <a:schemeClr val="dk1"/>
              </a:solidFill>
              <a:latin typeface="DM Sans"/>
              <a:ea typeface="DM Sans"/>
              <a:cs typeface="DM Sans"/>
              <a:sym typeface="DM Sans"/>
            </a:endParaRPr>
          </a:p>
        </p:txBody>
      </p:sp>
      <p:pic>
        <p:nvPicPr>
          <p:cNvPr id="217" name="Google Shape;217;p27"/>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221" name="Shape 221"/>
        <p:cNvGrpSpPr/>
        <p:nvPr/>
      </p:nvGrpSpPr>
      <p:grpSpPr>
        <a:xfrm>
          <a:off x="0" y="0"/>
          <a:ext cx="0" cy="0"/>
          <a:chOff x="0" y="0"/>
          <a:chExt cx="0" cy="0"/>
        </a:xfrm>
      </p:grpSpPr>
      <p:pic>
        <p:nvPicPr>
          <p:cNvPr id="222" name="Google Shape;222;p28"/>
          <p:cNvPicPr preferRelativeResize="0"/>
          <p:nvPr/>
        </p:nvPicPr>
        <p:blipFill>
          <a:blip r:embed="rId3">
            <a:alphaModFix/>
          </a:blip>
          <a:stretch>
            <a:fillRect/>
          </a:stretch>
        </p:blipFill>
        <p:spPr>
          <a:xfrm>
            <a:off x="233263" y="70240"/>
            <a:ext cx="8677463" cy="4838703"/>
          </a:xfrm>
          <a:prstGeom prst="rect">
            <a:avLst/>
          </a:prstGeom>
          <a:noFill/>
          <a:ln>
            <a:noFill/>
          </a:ln>
        </p:spPr>
      </p:pic>
      <p:sp>
        <p:nvSpPr>
          <p:cNvPr id="223" name="Google Shape;223;p28"/>
          <p:cNvSpPr txBox="1"/>
          <p:nvPr/>
        </p:nvSpPr>
        <p:spPr>
          <a:xfrm>
            <a:off x="368025" y="399450"/>
            <a:ext cx="74460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avance funcional del sistema</a:t>
            </a:r>
            <a:endParaRPr sz="3000">
              <a:solidFill>
                <a:schemeClr val="dk1"/>
              </a:solidFill>
              <a:latin typeface="Bungee"/>
              <a:ea typeface="Bungee"/>
              <a:cs typeface="Bungee"/>
              <a:sym typeface="Bungee"/>
            </a:endParaRPr>
          </a:p>
        </p:txBody>
      </p:sp>
      <p:pic>
        <p:nvPicPr>
          <p:cNvPr id="224" name="Google Shape;224;p28"/>
          <p:cNvPicPr preferRelativeResize="0"/>
          <p:nvPr/>
        </p:nvPicPr>
        <p:blipFill>
          <a:blip r:embed="rId4">
            <a:alphaModFix/>
          </a:blip>
          <a:stretch>
            <a:fillRect/>
          </a:stretch>
        </p:blipFill>
        <p:spPr>
          <a:xfrm>
            <a:off x="2845500" y="1166925"/>
            <a:ext cx="5762900" cy="3083425"/>
          </a:xfrm>
          <a:prstGeom prst="rect">
            <a:avLst/>
          </a:prstGeom>
          <a:noFill/>
          <a:ln cap="flat" cmpd="sng" w="19050">
            <a:solidFill>
              <a:schemeClr val="dk1"/>
            </a:solidFill>
            <a:prstDash val="solid"/>
            <a:miter lim="8000"/>
            <a:headEnd len="sm" w="sm" type="none"/>
            <a:tailEnd len="sm" w="sm" type="none"/>
          </a:ln>
        </p:spPr>
      </p:pic>
      <p:sp>
        <p:nvSpPr>
          <p:cNvPr id="225" name="Google Shape;225;p28"/>
          <p:cNvSpPr txBox="1"/>
          <p:nvPr/>
        </p:nvSpPr>
        <p:spPr>
          <a:xfrm>
            <a:off x="435350" y="1166925"/>
            <a:ext cx="2275500" cy="29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latin typeface="DM Sans"/>
                <a:ea typeface="DM Sans"/>
                <a:cs typeface="DM Sans"/>
                <a:sym typeface="DM Sans"/>
              </a:rPr>
              <a:t>2.	</a:t>
            </a:r>
            <a:r>
              <a:rPr b="1" lang="es">
                <a:solidFill>
                  <a:schemeClr val="dk1"/>
                </a:solidFill>
                <a:latin typeface="DM Sans"/>
                <a:ea typeface="DM Sans"/>
                <a:cs typeface="DM Sans"/>
                <a:sym typeface="DM Sans"/>
              </a:rPr>
              <a:t>Vista - Productos</a:t>
            </a:r>
            <a:endParaRPr b="1">
              <a:solidFill>
                <a:schemeClr val="dk1"/>
              </a:solidFill>
              <a:latin typeface="DM Sans"/>
              <a:ea typeface="DM Sans"/>
              <a:cs typeface="DM Sans"/>
              <a:sym typeface="DM Sans"/>
            </a:endParaRPr>
          </a:p>
          <a:p>
            <a:pPr indent="0" lvl="0" marL="0" rtl="0" algn="l">
              <a:spcBef>
                <a:spcPts val="0"/>
              </a:spcBef>
              <a:spcAft>
                <a:spcPts val="0"/>
              </a:spcAft>
              <a:buNone/>
            </a:pPr>
            <a:r>
              <a:rPr lang="es">
                <a:solidFill>
                  <a:schemeClr val="dk1"/>
                </a:solidFill>
                <a:latin typeface="DM Sans"/>
                <a:ea typeface="DM Sans"/>
                <a:cs typeface="DM Sans"/>
                <a:sym typeface="DM Sans"/>
              </a:rPr>
              <a:t>La Vista de productos  es el corazón del inventario. Muestra la información clave (nombre, stock, categoría, estado) en una planilla. Incluye el botón “Agregar producto”, facilitando la gestión de mercancía en tiempo real.</a:t>
            </a:r>
            <a:endParaRPr>
              <a:solidFill>
                <a:schemeClr val="dk1"/>
              </a:solidFill>
              <a:latin typeface="DM Sans"/>
              <a:ea typeface="DM Sans"/>
              <a:cs typeface="DM Sans"/>
              <a:sym typeface="DM Sans"/>
            </a:endParaRPr>
          </a:p>
        </p:txBody>
      </p:sp>
      <p:pic>
        <p:nvPicPr>
          <p:cNvPr id="226" name="Google Shape;226;p28"/>
          <p:cNvPicPr preferRelativeResize="0"/>
          <p:nvPr/>
        </p:nvPicPr>
        <p:blipFill>
          <a:blip r:embed="rId5">
            <a:alphaModFix/>
          </a:blip>
          <a:stretch>
            <a:fillRect/>
          </a:stretch>
        </p:blipFill>
        <p:spPr>
          <a:xfrm>
            <a:off x="435350" y="4479222"/>
            <a:ext cx="1065950" cy="263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230" name="Shape 230"/>
        <p:cNvGrpSpPr/>
        <p:nvPr/>
      </p:nvGrpSpPr>
      <p:grpSpPr>
        <a:xfrm>
          <a:off x="0" y="0"/>
          <a:ext cx="0" cy="0"/>
          <a:chOff x="0" y="0"/>
          <a:chExt cx="0" cy="0"/>
        </a:xfrm>
      </p:grpSpPr>
      <p:pic>
        <p:nvPicPr>
          <p:cNvPr id="231" name="Google Shape;231;p29"/>
          <p:cNvPicPr preferRelativeResize="0"/>
          <p:nvPr/>
        </p:nvPicPr>
        <p:blipFill>
          <a:blip r:embed="rId3">
            <a:alphaModFix/>
          </a:blip>
          <a:stretch>
            <a:fillRect/>
          </a:stretch>
        </p:blipFill>
        <p:spPr>
          <a:xfrm>
            <a:off x="233263" y="77640"/>
            <a:ext cx="8677463" cy="4838703"/>
          </a:xfrm>
          <a:prstGeom prst="rect">
            <a:avLst/>
          </a:prstGeom>
          <a:noFill/>
          <a:ln>
            <a:noFill/>
          </a:ln>
        </p:spPr>
      </p:pic>
      <p:sp>
        <p:nvSpPr>
          <p:cNvPr id="232" name="Google Shape;232;p29"/>
          <p:cNvSpPr txBox="1"/>
          <p:nvPr/>
        </p:nvSpPr>
        <p:spPr>
          <a:xfrm>
            <a:off x="368025" y="399450"/>
            <a:ext cx="40932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1"/>
                </a:solidFill>
                <a:latin typeface="Bungee"/>
                <a:ea typeface="Bungee"/>
                <a:cs typeface="Bungee"/>
                <a:sym typeface="Bungee"/>
              </a:rPr>
              <a:t>conclusión</a:t>
            </a:r>
            <a:endParaRPr sz="3000">
              <a:solidFill>
                <a:schemeClr val="dk1"/>
              </a:solidFill>
              <a:latin typeface="Bungee"/>
              <a:ea typeface="Bungee"/>
              <a:cs typeface="Bungee"/>
              <a:sym typeface="Bungee"/>
            </a:endParaRPr>
          </a:p>
        </p:txBody>
      </p:sp>
      <p:sp>
        <p:nvSpPr>
          <p:cNvPr id="233" name="Google Shape;233;p29"/>
          <p:cNvSpPr txBox="1"/>
          <p:nvPr/>
        </p:nvSpPr>
        <p:spPr>
          <a:xfrm>
            <a:off x="475750" y="1113075"/>
            <a:ext cx="7903800" cy="17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1"/>
                </a:solidFill>
                <a:latin typeface="DM Sans"/>
                <a:ea typeface="DM Sans"/>
                <a:cs typeface="DM Sans"/>
                <a:sym typeface="DM Sans"/>
              </a:rPr>
              <a:t>El proyecto OvalleStock ha sentado una base arquitectónica sólida y escalable gracias a la combinación de la gestión ágil y el diseño estructurado del Modelo 4+1. Logramos definir, documentar y validar las funcionalidades clave con una trazabilidad efectiva. Buscamos como resultado una plataforma segura y eficiente que busca optimizar la logística en tiempo real de los locatarios de Lo Valledor.</a:t>
            </a:r>
            <a:endParaRPr sz="1700">
              <a:solidFill>
                <a:schemeClr val="dk1"/>
              </a:solidFill>
              <a:latin typeface="DM Sans"/>
              <a:ea typeface="DM Sans"/>
              <a:cs typeface="DM Sans"/>
              <a:sym typeface="DM Sans"/>
            </a:endParaRPr>
          </a:p>
        </p:txBody>
      </p:sp>
      <p:pic>
        <p:nvPicPr>
          <p:cNvPr id="234" name="Google Shape;234;p29"/>
          <p:cNvPicPr preferRelativeResize="0"/>
          <p:nvPr/>
        </p:nvPicPr>
        <p:blipFill>
          <a:blip r:embed="rId4">
            <a:alphaModFix/>
          </a:blip>
          <a:stretch>
            <a:fillRect/>
          </a:stretch>
        </p:blipFill>
        <p:spPr>
          <a:xfrm>
            <a:off x="7665900" y="399447"/>
            <a:ext cx="1065950" cy="263375"/>
          </a:xfrm>
          <a:prstGeom prst="rect">
            <a:avLst/>
          </a:prstGeom>
          <a:noFill/>
          <a:ln>
            <a:noFill/>
          </a:ln>
        </p:spPr>
      </p:pic>
      <p:pic>
        <p:nvPicPr>
          <p:cNvPr id="235" name="Google Shape;235;p29"/>
          <p:cNvPicPr preferRelativeResize="0"/>
          <p:nvPr/>
        </p:nvPicPr>
        <p:blipFill rotWithShape="1">
          <a:blip r:embed="rId5">
            <a:alphaModFix/>
          </a:blip>
          <a:srcRect b="28874" l="0" r="0" t="25220"/>
          <a:stretch/>
        </p:blipFill>
        <p:spPr>
          <a:xfrm>
            <a:off x="2767975" y="2890509"/>
            <a:ext cx="3319350" cy="15237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8568"/>
        </a:solidFill>
      </p:bgPr>
    </p:bg>
    <p:spTree>
      <p:nvGrpSpPr>
        <p:cNvPr id="239" name="Shape 239"/>
        <p:cNvGrpSpPr/>
        <p:nvPr/>
      </p:nvGrpSpPr>
      <p:grpSpPr>
        <a:xfrm>
          <a:off x="0" y="0"/>
          <a:ext cx="0" cy="0"/>
          <a:chOff x="0" y="0"/>
          <a:chExt cx="0" cy="0"/>
        </a:xfrm>
      </p:grpSpPr>
      <p:pic>
        <p:nvPicPr>
          <p:cNvPr id="240" name="Google Shape;240;p30"/>
          <p:cNvPicPr preferRelativeResize="0"/>
          <p:nvPr/>
        </p:nvPicPr>
        <p:blipFill>
          <a:blip r:embed="rId3">
            <a:alphaModFix/>
          </a:blip>
          <a:stretch>
            <a:fillRect/>
          </a:stretch>
        </p:blipFill>
        <p:spPr>
          <a:xfrm>
            <a:off x="233263" y="77640"/>
            <a:ext cx="8677463" cy="4838703"/>
          </a:xfrm>
          <a:prstGeom prst="rect">
            <a:avLst/>
          </a:prstGeom>
          <a:noFill/>
          <a:ln>
            <a:noFill/>
          </a:ln>
        </p:spPr>
      </p:pic>
      <p:pic>
        <p:nvPicPr>
          <p:cNvPr id="241" name="Google Shape;241;p30"/>
          <p:cNvPicPr preferRelativeResize="0"/>
          <p:nvPr/>
        </p:nvPicPr>
        <p:blipFill>
          <a:blip r:embed="rId4">
            <a:alphaModFix/>
          </a:blip>
          <a:stretch>
            <a:fillRect/>
          </a:stretch>
        </p:blipFill>
        <p:spPr>
          <a:xfrm>
            <a:off x="3529747" y="980813"/>
            <a:ext cx="1844525" cy="455750"/>
          </a:xfrm>
          <a:prstGeom prst="rect">
            <a:avLst/>
          </a:prstGeom>
          <a:noFill/>
          <a:ln>
            <a:noFill/>
          </a:ln>
        </p:spPr>
      </p:pic>
      <p:pic>
        <p:nvPicPr>
          <p:cNvPr id="242" name="Google Shape;242;p30"/>
          <p:cNvPicPr preferRelativeResize="0"/>
          <p:nvPr/>
        </p:nvPicPr>
        <p:blipFill rotWithShape="1">
          <a:blip r:embed="rId5">
            <a:alphaModFix/>
          </a:blip>
          <a:srcRect b="0" l="0" r="64651" t="0"/>
          <a:stretch/>
        </p:blipFill>
        <p:spPr>
          <a:xfrm>
            <a:off x="7494981" y="-16225"/>
            <a:ext cx="1656495" cy="3058276"/>
          </a:xfrm>
          <a:prstGeom prst="rect">
            <a:avLst/>
          </a:prstGeom>
          <a:noFill/>
          <a:ln>
            <a:noFill/>
          </a:ln>
        </p:spPr>
      </p:pic>
      <p:pic>
        <p:nvPicPr>
          <p:cNvPr id="243" name="Google Shape;243;p30"/>
          <p:cNvPicPr preferRelativeResize="0"/>
          <p:nvPr/>
        </p:nvPicPr>
        <p:blipFill rotWithShape="1">
          <a:blip r:embed="rId6">
            <a:alphaModFix/>
          </a:blip>
          <a:srcRect b="20369" l="53257" r="0" t="0"/>
          <a:stretch/>
        </p:blipFill>
        <p:spPr>
          <a:xfrm>
            <a:off x="0" y="2944875"/>
            <a:ext cx="1978700" cy="2198626"/>
          </a:xfrm>
          <a:prstGeom prst="rect">
            <a:avLst/>
          </a:prstGeom>
          <a:noFill/>
          <a:ln>
            <a:noFill/>
          </a:ln>
        </p:spPr>
      </p:pic>
      <p:pic>
        <p:nvPicPr>
          <p:cNvPr id="244" name="Google Shape;244;p30"/>
          <p:cNvPicPr preferRelativeResize="0"/>
          <p:nvPr/>
        </p:nvPicPr>
        <p:blipFill>
          <a:blip r:embed="rId7">
            <a:alphaModFix/>
          </a:blip>
          <a:stretch>
            <a:fillRect/>
          </a:stretch>
        </p:blipFill>
        <p:spPr>
          <a:xfrm>
            <a:off x="1021325" y="0"/>
            <a:ext cx="387650" cy="740125"/>
          </a:xfrm>
          <a:prstGeom prst="rect">
            <a:avLst/>
          </a:prstGeom>
          <a:noFill/>
          <a:ln>
            <a:noFill/>
          </a:ln>
        </p:spPr>
      </p:pic>
      <p:sp>
        <p:nvSpPr>
          <p:cNvPr id="245" name="Google Shape;245;p30"/>
          <p:cNvSpPr txBox="1"/>
          <p:nvPr/>
        </p:nvSpPr>
        <p:spPr>
          <a:xfrm>
            <a:off x="2008188" y="1382716"/>
            <a:ext cx="4887600" cy="6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6900">
                <a:solidFill>
                  <a:schemeClr val="dk1"/>
                </a:solidFill>
                <a:latin typeface="Bungee"/>
                <a:ea typeface="Bungee"/>
                <a:cs typeface="Bungee"/>
                <a:sym typeface="Bungee"/>
              </a:rPr>
              <a:t>muchas </a:t>
            </a:r>
            <a:endParaRPr sz="6900">
              <a:solidFill>
                <a:schemeClr val="dk1"/>
              </a:solidFill>
              <a:latin typeface="Bungee"/>
              <a:ea typeface="Bungee"/>
              <a:cs typeface="Bungee"/>
              <a:sym typeface="Bungee"/>
            </a:endParaRPr>
          </a:p>
          <a:p>
            <a:pPr indent="0" lvl="0" marL="0" rtl="0" algn="ctr">
              <a:spcBef>
                <a:spcPts val="0"/>
              </a:spcBef>
              <a:spcAft>
                <a:spcPts val="0"/>
              </a:spcAft>
              <a:buNone/>
            </a:pPr>
            <a:r>
              <a:rPr lang="es" sz="6900">
                <a:solidFill>
                  <a:schemeClr val="dk1"/>
                </a:solidFill>
                <a:latin typeface="Bungee"/>
                <a:ea typeface="Bungee"/>
                <a:cs typeface="Bungee"/>
                <a:sym typeface="Bungee"/>
              </a:rPr>
              <a:t>gracias</a:t>
            </a:r>
            <a:endParaRPr sz="6900">
              <a:solidFill>
                <a:schemeClr val="dk1"/>
              </a:solidFill>
              <a:latin typeface="Bungee"/>
              <a:ea typeface="Bungee"/>
              <a:cs typeface="Bungee"/>
              <a:sym typeface="Bungee"/>
            </a:endParaRPr>
          </a:p>
        </p:txBody>
      </p:sp>
      <p:pic>
        <p:nvPicPr>
          <p:cNvPr id="246" name="Google Shape;246;p30"/>
          <p:cNvPicPr preferRelativeResize="0"/>
          <p:nvPr/>
        </p:nvPicPr>
        <p:blipFill rotWithShape="1">
          <a:blip r:embed="rId8">
            <a:alphaModFix/>
          </a:blip>
          <a:srcRect b="0" l="9690" r="0" t="0"/>
          <a:stretch/>
        </p:blipFill>
        <p:spPr>
          <a:xfrm>
            <a:off x="1256699" y="1142400"/>
            <a:ext cx="972050" cy="1400175"/>
          </a:xfrm>
          <a:prstGeom prst="rect">
            <a:avLst/>
          </a:prstGeom>
          <a:noFill/>
          <a:ln>
            <a:noFill/>
          </a:ln>
        </p:spPr>
      </p:pic>
      <p:pic>
        <p:nvPicPr>
          <p:cNvPr id="247" name="Google Shape;247;p30"/>
          <p:cNvPicPr preferRelativeResize="0"/>
          <p:nvPr/>
        </p:nvPicPr>
        <p:blipFill>
          <a:blip r:embed="rId9">
            <a:alphaModFix/>
          </a:blip>
          <a:stretch>
            <a:fillRect/>
          </a:stretch>
        </p:blipFill>
        <p:spPr>
          <a:xfrm>
            <a:off x="7290750" y="3370137"/>
            <a:ext cx="1179575" cy="1348100"/>
          </a:xfrm>
          <a:prstGeom prst="rect">
            <a:avLst/>
          </a:prstGeom>
          <a:noFill/>
          <a:ln>
            <a:noFill/>
          </a:ln>
        </p:spPr>
      </p:pic>
      <p:pic>
        <p:nvPicPr>
          <p:cNvPr id="248" name="Google Shape;248;p30"/>
          <p:cNvPicPr preferRelativeResize="0"/>
          <p:nvPr/>
        </p:nvPicPr>
        <p:blipFill rotWithShape="1">
          <a:blip r:embed="rId10">
            <a:alphaModFix/>
          </a:blip>
          <a:srcRect b="28874" l="0" r="0" t="25220"/>
          <a:stretch/>
        </p:blipFill>
        <p:spPr>
          <a:xfrm>
            <a:off x="3623750" y="3574350"/>
            <a:ext cx="1656500" cy="7604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