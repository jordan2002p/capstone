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embeddedFontLst>
    <p:embeddedFont>
      <p:font typeface="Bungee"/>
      <p:regular r:id="rId21"/>
    </p:embeddedFont>
    <p:embeddedFont>
      <p:font typeface="DM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DMSans-regular.fntdata"/><Relationship Id="rId21" Type="http://schemas.openxmlformats.org/officeDocument/2006/relationships/font" Target="fonts/Bungee-regular.fntdata"/><Relationship Id="rId24" Type="http://schemas.openxmlformats.org/officeDocument/2006/relationships/font" Target="fonts/DMSans-italic.fntdata"/><Relationship Id="rId23" Type="http://schemas.openxmlformats.org/officeDocument/2006/relationships/font" Target="fonts/DM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DM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9496e44e6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9496e44e6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9496e44e6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9496e44e6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949a8bbe2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949a8bbe2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949a8bbe20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949a8bbe20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949a8bbe20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949a8bbe20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49a8bbe20_1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49a8bbe20_1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949a8bbe20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949a8bbe20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49a8bbe20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49a8bbe20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949a8bbe20_1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949a8bbe20_1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949a8bbe20_1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949a8bbe20_1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49a8bbe20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949a8bbe20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949a8bbe20_1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949a8bbe20_1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949a8bbe20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949a8bbe20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949a8bbe2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949a8bbe2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949a8bbe20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949a8bbe20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11" Type="http://schemas.openxmlformats.org/officeDocument/2006/relationships/image" Target="../media/image5.png"/><Relationship Id="rId10" Type="http://schemas.openxmlformats.org/officeDocument/2006/relationships/image" Target="../media/image10.png"/><Relationship Id="rId9" Type="http://schemas.openxmlformats.org/officeDocument/2006/relationships/image" Target="../media/image11.png"/><Relationship Id="rId5" Type="http://schemas.openxmlformats.org/officeDocument/2006/relationships/image" Target="../media/image6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5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7.png"/><Relationship Id="rId5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8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13.png"/><Relationship Id="rId5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16.png"/><Relationship Id="rId5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23.png"/><Relationship Id="rId5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22.png"/><Relationship Id="rId5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24.png"/><Relationship Id="rId5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21.png"/><Relationship Id="rId5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20.png"/><Relationship Id="rId5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25.png"/><Relationship Id="rId5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10" Type="http://schemas.openxmlformats.org/officeDocument/2006/relationships/image" Target="../media/image6.png"/><Relationship Id="rId9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9650" y="1383765"/>
            <a:ext cx="7124649" cy="1523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 rotWithShape="1">
          <a:blip r:embed="rId5">
            <a:alphaModFix/>
          </a:blip>
          <a:srcRect b="28874" l="0" r="0" t="25220"/>
          <a:stretch/>
        </p:blipFill>
        <p:spPr>
          <a:xfrm>
            <a:off x="2845025" y="2160559"/>
            <a:ext cx="3319350" cy="1523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55500" y="729903"/>
            <a:ext cx="992950" cy="99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631822" y="1056001"/>
            <a:ext cx="1844525" cy="45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/>
          <p:cNvPicPr preferRelativeResize="0"/>
          <p:nvPr/>
        </p:nvPicPr>
        <p:blipFill rotWithShape="1">
          <a:blip r:embed="rId8">
            <a:alphaModFix/>
          </a:blip>
          <a:srcRect b="0" l="0" r="64651" t="0"/>
          <a:stretch/>
        </p:blipFill>
        <p:spPr>
          <a:xfrm>
            <a:off x="7494981" y="-16225"/>
            <a:ext cx="1656495" cy="3058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p13"/>
          <p:cNvPicPr preferRelativeResize="0"/>
          <p:nvPr/>
        </p:nvPicPr>
        <p:blipFill rotWithShape="1">
          <a:blip r:embed="rId9">
            <a:alphaModFix/>
          </a:blip>
          <a:srcRect b="20369" l="53257" r="0" t="0"/>
          <a:stretch/>
        </p:blipFill>
        <p:spPr>
          <a:xfrm>
            <a:off x="0" y="2944875"/>
            <a:ext cx="1978700" cy="2198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13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21325" y="0"/>
            <a:ext cx="387650" cy="74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13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90750" y="3370137"/>
            <a:ext cx="1179575" cy="134810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3"/>
          <p:cNvSpPr txBox="1"/>
          <p:nvPr/>
        </p:nvSpPr>
        <p:spPr>
          <a:xfrm>
            <a:off x="2272700" y="3715575"/>
            <a:ext cx="4358400" cy="92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Capstone_004D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Martin Jeraldino, Jordan Peña y Renato Tapia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Docente: Ceferino Anibal Sotelo Becerra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/>
          <p:nvPr/>
        </p:nvSpPr>
        <p:spPr>
          <a:xfrm>
            <a:off x="368025" y="399450"/>
            <a:ext cx="40932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Introducción</a:t>
            </a:r>
            <a:endParaRPr sz="30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475750" y="1113075"/>
            <a:ext cx="7903800" cy="15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OvalleStock es una plataforma web responsiva diseñada para optimizar el control de inventario y la logística de productos en el mercado Lo Valledor. El sistema busca facilitar la gestión de stock mediante códigos automáticos y reportes. Su diseño se basa en una arquitectura modular por capas que asegura escalabilidad y mantenimiento.</a:t>
            </a:r>
            <a:endParaRPr sz="17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71" name="Google Shape;71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01250" y="2688375"/>
            <a:ext cx="3652800" cy="1831249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" name="Google Shape;72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65900" y="399447"/>
            <a:ext cx="1065950" cy="26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5"/>
          <p:cNvSpPr txBox="1"/>
          <p:nvPr/>
        </p:nvSpPr>
        <p:spPr>
          <a:xfrm>
            <a:off x="368025" y="399450"/>
            <a:ext cx="58032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metodología ágil</a:t>
            </a:r>
            <a:endParaRPr sz="30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475750" y="1113075"/>
            <a:ext cx="79038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 utilizó la metodología Scrum, estructurando el trabajo en sprints iterativos para mayor adaptabilidad. La gestión se centró en Jira, usando épicas e historias de usuario para priorizar tareas y asegurar la trazabilidad del avance. La colaboración y la comunicación constante fueron fundamentales.</a:t>
            </a:r>
            <a:endParaRPr sz="17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80" name="Google Shape;80;p15"/>
          <p:cNvPicPr preferRelativeResize="0"/>
          <p:nvPr/>
        </p:nvPicPr>
        <p:blipFill rotWithShape="1">
          <a:blip r:embed="rId4">
            <a:alphaModFix/>
          </a:blip>
          <a:srcRect b="8408" l="0" r="0" t="0"/>
          <a:stretch/>
        </p:blipFill>
        <p:spPr>
          <a:xfrm>
            <a:off x="2401475" y="2464050"/>
            <a:ext cx="4052375" cy="208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65900" y="399447"/>
            <a:ext cx="1065950" cy="26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6"/>
          <p:cNvSpPr txBox="1"/>
          <p:nvPr/>
        </p:nvSpPr>
        <p:spPr>
          <a:xfrm>
            <a:off x="368025" y="399450"/>
            <a:ext cx="74190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herramientas utilizadas</a:t>
            </a:r>
            <a:endParaRPr sz="30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664225" y="2028675"/>
            <a:ext cx="1710000" cy="23295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6"/>
          <p:cNvSpPr/>
          <p:nvPr/>
        </p:nvSpPr>
        <p:spPr>
          <a:xfrm>
            <a:off x="2728600" y="2028675"/>
            <a:ext cx="1710000" cy="23295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6"/>
          <p:cNvSpPr/>
          <p:nvPr/>
        </p:nvSpPr>
        <p:spPr>
          <a:xfrm>
            <a:off x="4718925" y="2028675"/>
            <a:ext cx="1710000" cy="23295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6"/>
          <p:cNvSpPr/>
          <p:nvPr/>
        </p:nvSpPr>
        <p:spPr>
          <a:xfrm>
            <a:off x="6709250" y="2028675"/>
            <a:ext cx="1710000" cy="23295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6"/>
          <p:cNvSpPr/>
          <p:nvPr/>
        </p:nvSpPr>
        <p:spPr>
          <a:xfrm>
            <a:off x="1182625" y="1382475"/>
            <a:ext cx="673200" cy="6462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5237325" y="1382475"/>
            <a:ext cx="673200" cy="6462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6"/>
          <p:cNvSpPr/>
          <p:nvPr/>
        </p:nvSpPr>
        <p:spPr>
          <a:xfrm>
            <a:off x="7227650" y="1382475"/>
            <a:ext cx="673200" cy="6462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5" name="Google Shape;9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27650" y="1369010"/>
            <a:ext cx="673198" cy="6462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96" name="Google Shape;96;p16"/>
          <p:cNvPicPr preferRelativeResize="0"/>
          <p:nvPr/>
        </p:nvPicPr>
        <p:blipFill rotWithShape="1">
          <a:blip r:embed="rId5">
            <a:alphaModFix/>
          </a:blip>
          <a:srcRect b="11944" l="11211" r="11040" t="11438"/>
          <a:stretch/>
        </p:blipFill>
        <p:spPr>
          <a:xfrm>
            <a:off x="5237325" y="1373904"/>
            <a:ext cx="673200" cy="646199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97" name="Google Shape;97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46700" y="1433050"/>
            <a:ext cx="545049" cy="545049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6"/>
          <p:cNvSpPr txBox="1"/>
          <p:nvPr/>
        </p:nvSpPr>
        <p:spPr>
          <a:xfrm>
            <a:off x="810775" y="2115150"/>
            <a:ext cx="14169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Visual sTUDIO CODE</a:t>
            </a:r>
            <a:endParaRPr sz="12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sp>
        <p:nvSpPr>
          <p:cNvPr id="99" name="Google Shape;99;p16"/>
          <p:cNvSpPr txBox="1"/>
          <p:nvPr/>
        </p:nvSpPr>
        <p:spPr>
          <a:xfrm>
            <a:off x="2838125" y="2115150"/>
            <a:ext cx="14169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Mysql</a:t>
            </a:r>
            <a:endParaRPr sz="12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sp>
        <p:nvSpPr>
          <p:cNvPr id="100" name="Google Shape;100;p16"/>
          <p:cNvSpPr txBox="1"/>
          <p:nvPr/>
        </p:nvSpPr>
        <p:spPr>
          <a:xfrm>
            <a:off x="4865475" y="2115150"/>
            <a:ext cx="14169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GITHUB</a:t>
            </a:r>
            <a:endParaRPr sz="12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sp>
        <p:nvSpPr>
          <p:cNvPr id="101" name="Google Shape;101;p16"/>
          <p:cNvSpPr txBox="1"/>
          <p:nvPr/>
        </p:nvSpPr>
        <p:spPr>
          <a:xfrm>
            <a:off x="6855800" y="2115150"/>
            <a:ext cx="14169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DRAW.IO</a:t>
            </a:r>
            <a:endParaRPr sz="12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sp>
        <p:nvSpPr>
          <p:cNvPr id="102" name="Google Shape;102;p16"/>
          <p:cNvSpPr txBox="1"/>
          <p:nvPr/>
        </p:nvSpPr>
        <p:spPr>
          <a:xfrm>
            <a:off x="732625" y="2571750"/>
            <a:ext cx="1573200" cy="14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Entorno de desarrollo principal para Python/Django y tecnologías web (HTML/CSS/JS). Facilitó la organización modular del código.</a:t>
            </a:r>
            <a:endParaRPr sz="11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3" name="Google Shape;103;p16"/>
          <p:cNvSpPr txBox="1"/>
          <p:nvPr/>
        </p:nvSpPr>
        <p:spPr>
          <a:xfrm>
            <a:off x="2797000" y="2571750"/>
            <a:ext cx="1573200" cy="14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Base de datos relacional liviana y de fácil integración con Django. Ideal para entornos de desarrollo y pruebas por su estructura basada en archivos.</a:t>
            </a:r>
            <a:endParaRPr sz="11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4" name="Google Shape;104;p16"/>
          <p:cNvSpPr txBox="1"/>
          <p:nvPr/>
        </p:nvSpPr>
        <p:spPr>
          <a:xfrm>
            <a:off x="4787325" y="2571750"/>
            <a:ext cx="1573200" cy="14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Plataforma para el control de versiones y la colaboración. Permitió la gestión segura del código y mantener un historial claro de los avances.</a:t>
            </a:r>
            <a:endParaRPr sz="11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5" name="Google Shape;105;p16"/>
          <p:cNvSpPr txBox="1"/>
          <p:nvPr/>
        </p:nvSpPr>
        <p:spPr>
          <a:xfrm>
            <a:off x="6777650" y="2571750"/>
            <a:ext cx="1573200" cy="14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Herramienta en línea para la diagramación técnica. Se utilizó para visualizar el Modelo 4+1 y la arquitectura de la base de datos.</a:t>
            </a:r>
            <a:endParaRPr sz="11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6" name="Google Shape;106;p1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665900" y="399447"/>
            <a:ext cx="1065950" cy="26337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6"/>
          <p:cNvSpPr/>
          <p:nvPr/>
        </p:nvSpPr>
        <p:spPr>
          <a:xfrm>
            <a:off x="3236904" y="1382465"/>
            <a:ext cx="673200" cy="6462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8" name="Google Shape;108;p1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236901" y="1345711"/>
            <a:ext cx="673200" cy="6732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7"/>
          <p:cNvSpPr txBox="1"/>
          <p:nvPr/>
        </p:nvSpPr>
        <p:spPr>
          <a:xfrm>
            <a:off x="368025" y="399450"/>
            <a:ext cx="79980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5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vista lógica - diagrama de clases</a:t>
            </a:r>
            <a:endParaRPr sz="25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pic>
        <p:nvPicPr>
          <p:cNvPr id="115" name="Google Shape;115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45500" y="1180400"/>
            <a:ext cx="5762900" cy="3312299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16" name="Google Shape;116;p17"/>
          <p:cNvSpPr txBox="1"/>
          <p:nvPr/>
        </p:nvSpPr>
        <p:spPr>
          <a:xfrm>
            <a:off x="435350" y="1624700"/>
            <a:ext cx="2275500" cy="24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Define la estructura estática de la lógica de negocio. Muestra las entidades principales (Producto, usuario, movimiento) con sus atributos y métodos, y cómo se relacionan (ej. una categoría tiene muchos productos).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7" name="Google Shape;117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65900" y="399447"/>
            <a:ext cx="1065950" cy="26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8"/>
          <p:cNvSpPr txBox="1"/>
          <p:nvPr/>
        </p:nvSpPr>
        <p:spPr>
          <a:xfrm>
            <a:off x="368025" y="399450"/>
            <a:ext cx="79980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5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vista lógica - diagrama de </a:t>
            </a:r>
            <a:r>
              <a:rPr lang="es" sz="25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comunicación</a:t>
            </a:r>
            <a:endParaRPr sz="25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pic>
        <p:nvPicPr>
          <p:cNvPr id="124" name="Google Shape;124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45500" y="1166935"/>
            <a:ext cx="5762899" cy="33123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5" name="Google Shape;125;p18"/>
          <p:cNvSpPr txBox="1"/>
          <p:nvPr/>
        </p:nvSpPr>
        <p:spPr>
          <a:xfrm>
            <a:off x="435350" y="1624700"/>
            <a:ext cx="2275500" cy="26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Ilustra la interacción entre objetos durante una operación. Muestra qué objetos intercambian mensajes para un proceso específico, como la búsqueda de un producto antes de registrar un movimiento.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26" name="Google Shape;126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350" y="4479222"/>
            <a:ext cx="1065950" cy="26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9"/>
          <p:cNvSpPr txBox="1"/>
          <p:nvPr/>
        </p:nvSpPr>
        <p:spPr>
          <a:xfrm>
            <a:off x="368025" y="399450"/>
            <a:ext cx="79980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5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vista lógica - diagrama de secuencia</a:t>
            </a:r>
            <a:endParaRPr sz="25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pic>
        <p:nvPicPr>
          <p:cNvPr id="133" name="Google Shape;13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95850" y="1166925"/>
            <a:ext cx="4016951" cy="3312301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4" name="Google Shape;134;p19"/>
          <p:cNvSpPr txBox="1"/>
          <p:nvPr/>
        </p:nvSpPr>
        <p:spPr>
          <a:xfrm>
            <a:off x="435350" y="1624700"/>
            <a:ext cx="4017000" cy="26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Detalla el orden cronológico de las llamadas entre objetos para procesos críticos. Por ejemplo, se utiliza para mostrar paso a paso la validación de stock antes de permitir el registro de una salida de producto.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35" name="Google Shape;135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350" y="4479222"/>
            <a:ext cx="1065950" cy="26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0"/>
          <p:cNvSpPr txBox="1"/>
          <p:nvPr/>
        </p:nvSpPr>
        <p:spPr>
          <a:xfrm>
            <a:off x="368025" y="399450"/>
            <a:ext cx="79980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1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vista de despliegue - diagrama de componentes</a:t>
            </a:r>
            <a:endParaRPr sz="21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45500" y="1166925"/>
            <a:ext cx="5762901" cy="3083424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3" name="Google Shape;143;p20"/>
          <p:cNvSpPr txBox="1"/>
          <p:nvPr/>
        </p:nvSpPr>
        <p:spPr>
          <a:xfrm>
            <a:off x="435350" y="1362075"/>
            <a:ext cx="2275500" cy="26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Muestra las piezas de software del sistema como el frontend, el dashboard, la gestión de productos, junto con sus dependencias y conexiones hacia la interfaz y base de datos. Ilustra cómo está organizada la arquitectura interna del sistema.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4" name="Google Shape;144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350" y="4479222"/>
            <a:ext cx="1065950" cy="26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1"/>
          <p:cNvSpPr txBox="1"/>
          <p:nvPr/>
        </p:nvSpPr>
        <p:spPr>
          <a:xfrm>
            <a:off x="368025" y="399450"/>
            <a:ext cx="79980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1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vista de despliegue - diagrama de paquetes</a:t>
            </a:r>
            <a:endParaRPr sz="21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pic>
        <p:nvPicPr>
          <p:cNvPr id="151" name="Google Shape;151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45500" y="1166925"/>
            <a:ext cx="5762899" cy="3312300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2" name="Google Shape;152;p21"/>
          <p:cNvSpPr txBox="1"/>
          <p:nvPr/>
        </p:nvSpPr>
        <p:spPr>
          <a:xfrm>
            <a:off x="435350" y="1624700"/>
            <a:ext cx="2275500" cy="26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Organiza los módulos y componentes en capas lógicas (Presentación, lógica de negocio y datos). Esto define la separación de responsabilidades para asegurar la mantenibilidad y escalabilidad del código.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350" y="4479222"/>
            <a:ext cx="1065950" cy="26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2"/>
          <p:cNvSpPr txBox="1"/>
          <p:nvPr/>
        </p:nvSpPr>
        <p:spPr>
          <a:xfrm>
            <a:off x="368025" y="399450"/>
            <a:ext cx="79980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1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vista física - diagrama de despliegue</a:t>
            </a:r>
            <a:endParaRPr sz="21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pic>
        <p:nvPicPr>
          <p:cNvPr id="160" name="Google Shape;16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21975" y="954987"/>
            <a:ext cx="4986426" cy="3736176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1" name="Google Shape;161;p22"/>
          <p:cNvSpPr txBox="1"/>
          <p:nvPr/>
        </p:nvSpPr>
        <p:spPr>
          <a:xfrm>
            <a:off x="435350" y="1624700"/>
            <a:ext cx="3002700" cy="26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Representa la topología del hardware. Muestra los nodos físicos (ej. Servidor web, DB, dispositivo móvil del cliente) y cómo los componentes del software se instalan y se conectan en el entorno real de ejecución.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2" name="Google Shape;162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350" y="4479222"/>
            <a:ext cx="1065950" cy="26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Google Shape;16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3"/>
          <p:cNvSpPr txBox="1"/>
          <p:nvPr/>
        </p:nvSpPr>
        <p:spPr>
          <a:xfrm>
            <a:off x="368025" y="399450"/>
            <a:ext cx="79980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1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vista de procesos - diagrama de actividades</a:t>
            </a:r>
            <a:endParaRPr sz="21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pic>
        <p:nvPicPr>
          <p:cNvPr id="169" name="Google Shape;169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21975" y="954975"/>
            <a:ext cx="4986425" cy="3736201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0" name="Google Shape;170;p23"/>
          <p:cNvSpPr txBox="1"/>
          <p:nvPr/>
        </p:nvSpPr>
        <p:spPr>
          <a:xfrm>
            <a:off x="435350" y="1624700"/>
            <a:ext cx="3002700" cy="26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Muestra el flujo de control dinámico de una operación, similar a un flowchart. Detalla la secuencia de acciones, bifurcaciones y los puntos de decisión (ej. ¿Hay suficiente stock?) en un proceso completo de gestión de inventario.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1" name="Google Shape;171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350" y="4479222"/>
            <a:ext cx="1065950" cy="26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4"/>
          <p:cNvSpPr txBox="1"/>
          <p:nvPr/>
        </p:nvSpPr>
        <p:spPr>
          <a:xfrm>
            <a:off x="368025" y="399450"/>
            <a:ext cx="79980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21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vista de escenarios - diagrama de caso de uso</a:t>
            </a:r>
            <a:endParaRPr sz="21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pic>
        <p:nvPicPr>
          <p:cNvPr id="178" name="Google Shape;17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21975" y="954975"/>
            <a:ext cx="4986424" cy="3736201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4"/>
          <p:cNvSpPr txBox="1"/>
          <p:nvPr/>
        </p:nvSpPr>
        <p:spPr>
          <a:xfrm>
            <a:off x="435350" y="1624700"/>
            <a:ext cx="3002700" cy="26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Define las fronteras del sistema y las funcionalidades clave desde la perspectiva del usuario. Muestra las interacciones entre los actores (Administrador y trabajador) y el sistema (ej. el caso de uso "Leer código" está incluido en "Registrar movimientos").</a:t>
            </a:r>
            <a:endParaRPr sz="15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80" name="Google Shape;180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350" y="4479222"/>
            <a:ext cx="1065950" cy="26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02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5"/>
          <p:cNvSpPr txBox="1"/>
          <p:nvPr/>
        </p:nvSpPr>
        <p:spPr>
          <a:xfrm>
            <a:off x="849000" y="422775"/>
            <a:ext cx="74460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avance funcional del sistema</a:t>
            </a:r>
            <a:endParaRPr sz="30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pic>
        <p:nvPicPr>
          <p:cNvPr id="187" name="Google Shape;187;p25"/>
          <p:cNvPicPr preferRelativeResize="0"/>
          <p:nvPr/>
        </p:nvPicPr>
        <p:blipFill rotWithShape="1">
          <a:blip r:embed="rId4">
            <a:alphaModFix/>
          </a:blip>
          <a:srcRect b="0" l="2160" r="2655" t="0"/>
          <a:stretch/>
        </p:blipFill>
        <p:spPr>
          <a:xfrm>
            <a:off x="1690550" y="1314550"/>
            <a:ext cx="5762899" cy="3083425"/>
          </a:xfrm>
          <a:prstGeom prst="rect">
            <a:avLst/>
          </a:prstGeom>
          <a:noFill/>
          <a:ln cap="flat" cmpd="sng" w="19050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pic>
      <p:pic>
        <p:nvPicPr>
          <p:cNvPr id="188" name="Google Shape;188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5350" y="4479222"/>
            <a:ext cx="1065950" cy="26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6"/>
          <p:cNvSpPr txBox="1"/>
          <p:nvPr/>
        </p:nvSpPr>
        <p:spPr>
          <a:xfrm>
            <a:off x="368025" y="399450"/>
            <a:ext cx="40932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conclusión</a:t>
            </a:r>
            <a:endParaRPr sz="30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sp>
        <p:nvSpPr>
          <p:cNvPr id="195" name="Google Shape;195;p26"/>
          <p:cNvSpPr txBox="1"/>
          <p:nvPr/>
        </p:nvSpPr>
        <p:spPr>
          <a:xfrm>
            <a:off x="475750" y="1113075"/>
            <a:ext cx="7903800" cy="17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proyecto OvalleStock ha sentado una base arquitectónica sólida y escalable gracias a la combinación de la gestión ágil y el diseño estructurado del Modelo 4+1. Logramos definir, documentar y validar las funcionalidades clave con una trazabilidad efectiva. Buscamos como resultado una plataforma segura y eficiente que busca optimizar la logística en tiempo real de los locatarios de Lo Valledor.</a:t>
            </a:r>
            <a:endParaRPr sz="17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96" name="Google Shape;196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5900" y="399447"/>
            <a:ext cx="1065950" cy="26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26"/>
          <p:cNvPicPr preferRelativeResize="0"/>
          <p:nvPr/>
        </p:nvPicPr>
        <p:blipFill rotWithShape="1">
          <a:blip r:embed="rId5">
            <a:alphaModFix/>
          </a:blip>
          <a:srcRect b="28874" l="0" r="0" t="25220"/>
          <a:stretch/>
        </p:blipFill>
        <p:spPr>
          <a:xfrm>
            <a:off x="2767975" y="2890509"/>
            <a:ext cx="3319350" cy="1523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78568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3263" y="77640"/>
            <a:ext cx="8677463" cy="4838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29747" y="980813"/>
            <a:ext cx="1844525" cy="455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7"/>
          <p:cNvPicPr preferRelativeResize="0"/>
          <p:nvPr/>
        </p:nvPicPr>
        <p:blipFill rotWithShape="1">
          <a:blip r:embed="rId5">
            <a:alphaModFix/>
          </a:blip>
          <a:srcRect b="0" l="0" r="64651" t="0"/>
          <a:stretch/>
        </p:blipFill>
        <p:spPr>
          <a:xfrm>
            <a:off x="7494981" y="-16225"/>
            <a:ext cx="1656495" cy="3058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7"/>
          <p:cNvPicPr preferRelativeResize="0"/>
          <p:nvPr/>
        </p:nvPicPr>
        <p:blipFill rotWithShape="1">
          <a:blip r:embed="rId6">
            <a:alphaModFix/>
          </a:blip>
          <a:srcRect b="20369" l="53257" r="0" t="0"/>
          <a:stretch/>
        </p:blipFill>
        <p:spPr>
          <a:xfrm>
            <a:off x="0" y="2944875"/>
            <a:ext cx="1978700" cy="2198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21325" y="0"/>
            <a:ext cx="387650" cy="740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7"/>
          <p:cNvSpPr txBox="1"/>
          <p:nvPr/>
        </p:nvSpPr>
        <p:spPr>
          <a:xfrm>
            <a:off x="2008188" y="1382716"/>
            <a:ext cx="48876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69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muchas </a:t>
            </a:r>
            <a:endParaRPr sz="69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6900">
                <a:solidFill>
                  <a:schemeClr val="dk1"/>
                </a:solidFill>
                <a:latin typeface="Bungee"/>
                <a:ea typeface="Bungee"/>
                <a:cs typeface="Bungee"/>
                <a:sym typeface="Bungee"/>
              </a:rPr>
              <a:t>gracias</a:t>
            </a:r>
            <a:endParaRPr sz="6900">
              <a:solidFill>
                <a:schemeClr val="dk1"/>
              </a:solidFill>
              <a:latin typeface="Bungee"/>
              <a:ea typeface="Bungee"/>
              <a:cs typeface="Bungee"/>
              <a:sym typeface="Bungee"/>
            </a:endParaRPr>
          </a:p>
        </p:txBody>
      </p:sp>
      <p:pic>
        <p:nvPicPr>
          <p:cNvPr id="208" name="Google Shape;208;p27"/>
          <p:cNvPicPr preferRelativeResize="0"/>
          <p:nvPr/>
        </p:nvPicPr>
        <p:blipFill rotWithShape="1">
          <a:blip r:embed="rId8">
            <a:alphaModFix/>
          </a:blip>
          <a:srcRect b="0" l="9690" r="0" t="0"/>
          <a:stretch/>
        </p:blipFill>
        <p:spPr>
          <a:xfrm>
            <a:off x="1256699" y="1142400"/>
            <a:ext cx="972050" cy="140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7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290750" y="3370137"/>
            <a:ext cx="1179575" cy="1348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7"/>
          <p:cNvPicPr preferRelativeResize="0"/>
          <p:nvPr/>
        </p:nvPicPr>
        <p:blipFill rotWithShape="1">
          <a:blip r:embed="rId10">
            <a:alphaModFix/>
          </a:blip>
          <a:srcRect b="28874" l="0" r="0" t="25220"/>
          <a:stretch/>
        </p:blipFill>
        <p:spPr>
          <a:xfrm>
            <a:off x="3623750" y="3574350"/>
            <a:ext cx="1656500" cy="76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